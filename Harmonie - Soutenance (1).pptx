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6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D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61E7C4-A9C2-2A68-5FFB-A8F1DD51B2BE}" v="15" dt="2026-07-07T13:10:28.9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gHJKSd1hDbzjnlErWefVOj/Harmonie?node-id=0-1&amp;t=VzGwjPu47b2Jz6PH-1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46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6000" b="1" i="0">
                <a:solidFill>
                  <a:srgbClr val="F0DEB8"/>
                </a:solidFill>
                <a:latin typeface="Segoe UI"/>
              </a:rPr>
              <a:t>HARMONIE</a:t>
            </a:r>
          </a:p>
        </p:txBody>
      </p:sp>
      <p:sp>
        <p:nvSpPr>
          <p:cNvPr id="5" name="Rectangle 4"/>
          <p:cNvSpPr/>
          <p:nvPr/>
        </p:nvSpPr>
        <p:spPr>
          <a:xfrm>
            <a:off x="932688" y="3127248"/>
            <a:ext cx="3108960" cy="45720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2000" b="0" i="0">
                <a:solidFill>
                  <a:srgbClr val="A89D82"/>
                </a:solidFill>
                <a:latin typeface="Segoe UI"/>
              </a:rPr>
              <a:t>Une alternative libre à Discord</a:t>
            </a:r>
            <a:endParaRPr lang="en-US" sz="2000">
              <a:solidFill>
                <a:srgbClr val="A89D82"/>
              </a:solidFill>
              <a:latin typeface="Segoe UI"/>
              <a:cs typeface="Segoe U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F0DEB8"/>
                </a:solidFill>
                <a:latin typeface="Segoe UI"/>
              </a:rPr>
              <a:t>Soutenance · Titre Professionnel Développeur Web et Web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0">
                <a:solidFill>
                  <a:srgbClr val="A89D82"/>
                </a:solidFill>
                <a:latin typeface="Segoe UI"/>
              </a:rPr>
              <a:t>Maël Flament  —  Juin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893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1">
                <a:solidFill>
                  <a:srgbClr val="CB2E62"/>
                </a:solidFill>
                <a:latin typeface="Segoe UI"/>
              </a:rPr>
              <a:t>« De la discorde naît l'Harmonie. 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AU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Le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5394960" cy="4114800"/>
          </a:xfrm>
          <a:prstGeom prst="rect">
            <a:avLst/>
          </a:prstGeom>
          <a:noFill/>
        </p:spPr>
        <p:txBody>
          <a:bodyPr wrap="square" lIns="0" tIns="0" rIns="0">
            <a:no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800">
                <a:solidFill>
                  <a:srgbClr val="F0DEB8"/>
                </a:solidFill>
                <a:latin typeface="Segoe UI"/>
              </a:rPr>
              <a:t>1 · Pourquoi Harmonie ?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800">
                <a:solidFill>
                  <a:srgbClr val="F0DEB8"/>
                </a:solidFill>
                <a:latin typeface="Segoe UI"/>
              </a:rPr>
              <a:t>2 · Ce que fait l'application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800">
                <a:solidFill>
                  <a:srgbClr val="F0DEB8"/>
                </a:solidFill>
                <a:latin typeface="Segoe UI"/>
              </a:rPr>
              <a:t>3 · Stack &amp; architecture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800">
                <a:solidFill>
                  <a:srgbClr val="F0DEB8"/>
                </a:solidFill>
                <a:latin typeface="Segoe UI"/>
              </a:rPr>
              <a:t>4 · Le temps réel, de bout en bout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394960" cy="4114800"/>
          </a:xfrm>
          <a:prstGeom prst="rect">
            <a:avLst/>
          </a:prstGeom>
          <a:noFill/>
        </p:spPr>
        <p:txBody>
          <a:bodyPr wrap="square" lIns="0" tIns="0" rIns="0">
            <a:no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800">
                <a:solidFill>
                  <a:srgbClr val="F0DEB8"/>
                </a:solidFill>
                <a:latin typeface="Segoe UI"/>
              </a:rPr>
              <a:t>5 · Sécurité : CSRF, permissions, données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800">
                <a:solidFill>
                  <a:srgbClr val="F0DEB8"/>
                </a:solidFill>
                <a:latin typeface="Segoe UI"/>
              </a:rPr>
              <a:t>6 · Base de données (MCD / MLD)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800">
                <a:solidFill>
                  <a:srgbClr val="F0DEB8"/>
                </a:solidFill>
                <a:latin typeface="Segoe UI"/>
              </a:rPr>
              <a:t>7 · Défis techniques &amp; solutions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800">
                <a:solidFill>
                  <a:srgbClr val="F0DEB8"/>
                </a:solidFill>
                <a:latin typeface="Segoe UI"/>
              </a:rPr>
              <a:t>8 · Qualité &amp; déploiement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LE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Pourquoi Harmonie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349240" cy="2606040"/>
          </a:xfrm>
          <a:prstGeom prst="roundRect">
            <a:avLst>
              <a:gd name="adj" fmla="val 5000"/>
            </a:avLst>
          </a:prstGeom>
          <a:solidFill>
            <a:srgbClr val="1B1B1B"/>
          </a:solidFill>
          <a:ln w="12700">
            <a:solidFill>
              <a:srgbClr val="3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 i="0">
                <a:solidFill>
                  <a:srgbClr val="A89D82"/>
                </a:solidFill>
                <a:latin typeface="Segoe UI"/>
              </a:rPr>
              <a:t>Le constat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4892040" cy="1920240"/>
          </a:xfrm>
          <a:prstGeom prst="rect">
            <a:avLst/>
          </a:prstGeom>
          <a:noFill/>
        </p:spPr>
        <p:txBody>
          <a:bodyPr wrap="square" lIns="0" tIns="0" rIns="0" bIns="45720" anchor="t">
            <a:no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Les apps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comme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Discord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ont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des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modèles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freemium : trop de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fonctions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basiques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bloquées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derrière un paywall.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Pour faire simple, on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finit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par payer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ou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par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jongler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entre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plusieurs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applis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.</a:t>
            </a:r>
            <a:endParaRPr sz="1450" dirty="0">
              <a:solidFill>
                <a:srgbClr val="F0DEB8"/>
              </a:solidFill>
              <a:latin typeface="Segoe UI"/>
              <a:cs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17920" y="1691640"/>
            <a:ext cx="5349240" cy="2606040"/>
          </a:xfrm>
          <a:prstGeom prst="roundRect">
            <a:avLst>
              <a:gd name="adj" fmla="val 5000"/>
            </a:avLst>
          </a:prstGeom>
          <a:solidFill>
            <a:srgbClr val="211A1D"/>
          </a:solidFill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50" b="1" i="0">
                <a:solidFill>
                  <a:srgbClr val="CB2E62"/>
                </a:solidFill>
                <a:latin typeface="Segoe UI"/>
              </a:rPr>
              <a:t>Ma réponse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4892040" cy="1920240"/>
          </a:xfrm>
          <a:prstGeom prst="rect">
            <a:avLst/>
          </a:prstGeom>
          <a:noFill/>
        </p:spPr>
        <p:txBody>
          <a:bodyPr wrap="square" lIns="0" tIns="0" rIns="0" bIns="45720" anchor="t">
            <a:no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Une alternative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repensée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,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simplifiée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,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gratuite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et open source,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qu'on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héberge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soi-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même</a:t>
            </a:r>
            <a:r>
              <a:rPr lang="en-US" sz="1450" dirty="0">
                <a:solidFill>
                  <a:srgbClr val="F0DEB8"/>
                </a:solidFill>
                <a:latin typeface="Segoe UI"/>
              </a:rPr>
              <a:t> et </a:t>
            </a:r>
            <a:r>
              <a:rPr lang="en-US" sz="1450" dirty="0" err="1">
                <a:solidFill>
                  <a:srgbClr val="F0DEB8"/>
                </a:solidFill>
                <a:latin typeface="Segoe UI"/>
              </a:rPr>
              <a:t>conforme</a:t>
            </a:r>
            <a:r>
              <a:rPr lang="en-US" sz="1450" dirty="0">
                <a:solidFill>
                  <a:srgbClr val="F0DEB8"/>
                </a:solidFill>
                <a:latin typeface="Segoe UI"/>
              </a:rPr>
              <a:t> au RGPD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Une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seule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plateforme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pour tout :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ses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amis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au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quotidien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,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une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session de jeu,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une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communauté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 de </a:t>
            </a:r>
            <a:r>
              <a:rPr sz="1450" dirty="0" err="1">
                <a:solidFill>
                  <a:srgbClr val="F0DEB8"/>
                </a:solidFill>
                <a:latin typeface="Segoe UI"/>
              </a:rPr>
              <a:t>passionnés</a:t>
            </a:r>
            <a:r>
              <a:rPr sz="1450" dirty="0">
                <a:solidFill>
                  <a:srgbClr val="F0DEB8"/>
                </a:solidFill>
                <a:latin typeface="Segoe UI"/>
              </a:rPr>
              <a:t>.</a:t>
            </a:r>
            <a:endParaRPr sz="1450" dirty="0">
              <a:solidFill>
                <a:srgbClr val="F0DEB8"/>
              </a:solidFill>
              <a:latin typeface="Segoe UI"/>
              <a:cs typeface="Segoe U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4526280"/>
            <a:ext cx="10927080" cy="1508760"/>
          </a:xfrm>
          <a:prstGeom prst="roundRect">
            <a:avLst>
              <a:gd name="adj" fmla="val 5000"/>
            </a:avLst>
          </a:prstGeom>
          <a:solidFill>
            <a:srgbClr val="211A1D"/>
          </a:solidFill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663440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00" b="1" i="0">
                <a:solidFill>
                  <a:srgbClr val="CB2E62"/>
                </a:solidFill>
                <a:latin typeface="Segoe UI"/>
              </a:rPr>
              <a:t>LE SENS DU NOM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5604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sz="1450" b="0" i="0" dirty="0">
                <a:solidFill>
                  <a:srgbClr val="F0DEB8"/>
                </a:solidFill>
                <a:latin typeface="Segoe UI"/>
              </a:rPr>
              <a:t>Harmonie, </a:t>
            </a:r>
            <a:r>
              <a:rPr sz="1450" b="0" i="0" dirty="0" err="1">
                <a:solidFill>
                  <a:srgbClr val="F0DEB8"/>
                </a:solidFill>
                <a:latin typeface="Segoe UI"/>
              </a:rPr>
              <a:t>c'est</a:t>
            </a:r>
            <a:r>
              <a:rPr sz="1450" b="0" i="0" dirty="0">
                <a:solidFill>
                  <a:srgbClr val="F0DEB8"/>
                </a:solidFill>
                <a:latin typeface="Segoe UI"/>
              </a:rPr>
              <a:t> </a:t>
            </a:r>
            <a:r>
              <a:rPr sz="1450" b="0" i="0" dirty="0" err="1">
                <a:solidFill>
                  <a:srgbClr val="F0DEB8"/>
                </a:solidFill>
                <a:latin typeface="Segoe UI"/>
              </a:rPr>
              <a:t>l'accord</a:t>
            </a:r>
            <a:r>
              <a:rPr sz="1450" b="0" i="0" dirty="0">
                <a:solidFill>
                  <a:srgbClr val="F0DEB8"/>
                </a:solidFill>
                <a:latin typeface="Segoe UI"/>
              </a:rPr>
              <a:t> parfait entre les </a:t>
            </a:r>
            <a:r>
              <a:rPr sz="1450" b="0" i="0" dirty="0" err="1">
                <a:solidFill>
                  <a:srgbClr val="F0DEB8"/>
                </a:solidFill>
                <a:latin typeface="Segoe UI"/>
              </a:rPr>
              <a:t>différentes</a:t>
            </a:r>
            <a:r>
              <a:rPr sz="1450" b="0" i="0" dirty="0">
                <a:solidFill>
                  <a:srgbClr val="F0DEB8"/>
                </a:solidFill>
                <a:latin typeface="Segoe UI"/>
              </a:rPr>
              <a:t> parties d'un ensemble</a:t>
            </a:r>
            <a:r>
              <a:rPr lang="en-US" sz="1450" dirty="0">
                <a:solidFill>
                  <a:srgbClr val="F0DEB8"/>
                </a:solidFill>
                <a:latin typeface="Segoe UI"/>
              </a:rPr>
              <a:t>. Il </a:t>
            </a:r>
            <a:r>
              <a:rPr lang="en-US" sz="1450" dirty="0" err="1">
                <a:solidFill>
                  <a:srgbClr val="F0DEB8"/>
                </a:solidFill>
                <a:latin typeface="Segoe UI"/>
              </a:rPr>
              <a:t>représente</a:t>
            </a:r>
            <a:r>
              <a:rPr lang="en-US" sz="1450" dirty="0">
                <a:solidFill>
                  <a:srgbClr val="F0DEB8"/>
                </a:solidFill>
                <a:latin typeface="Segoe UI"/>
              </a:rPr>
              <a:t> </a:t>
            </a:r>
            <a:r>
              <a:rPr lang="en-US" sz="1450" dirty="0" err="1">
                <a:solidFill>
                  <a:srgbClr val="F0DEB8"/>
                </a:solidFill>
                <a:latin typeface="Segoe UI"/>
              </a:rPr>
              <a:t>mon</a:t>
            </a:r>
            <a:r>
              <a:rPr sz="1450" b="0" i="0" dirty="0">
                <a:solidFill>
                  <a:srgbClr val="F0DEB8"/>
                </a:solidFill>
                <a:latin typeface="Segoe UI"/>
              </a:rPr>
              <a:t> </a:t>
            </a:r>
            <a:r>
              <a:rPr sz="1450" b="0" i="0" dirty="0" err="1">
                <a:solidFill>
                  <a:srgbClr val="F0DEB8"/>
                </a:solidFill>
                <a:latin typeface="Segoe UI"/>
              </a:rPr>
              <a:t>souhait</a:t>
            </a:r>
            <a:r>
              <a:rPr sz="1450" b="0" i="0" dirty="0">
                <a:solidFill>
                  <a:srgbClr val="F0DEB8"/>
                </a:solidFill>
                <a:latin typeface="Segoe UI"/>
              </a:rPr>
              <a:t> : </a:t>
            </a:r>
            <a:r>
              <a:rPr sz="1450" b="0" i="0" dirty="0" err="1">
                <a:solidFill>
                  <a:srgbClr val="F0DEB8"/>
                </a:solidFill>
                <a:latin typeface="Segoe UI"/>
              </a:rPr>
              <a:t>que</a:t>
            </a:r>
            <a:r>
              <a:rPr sz="1450" b="0" i="0" dirty="0">
                <a:solidFill>
                  <a:srgbClr val="F0DEB8"/>
                </a:solidFill>
                <a:latin typeface="Segoe UI"/>
              </a:rPr>
              <a:t> les gens y </a:t>
            </a:r>
            <a:r>
              <a:rPr sz="1450" b="0" i="0" dirty="0" err="1">
                <a:solidFill>
                  <a:srgbClr val="F0DEB8"/>
                </a:solidFill>
                <a:latin typeface="Segoe UI"/>
              </a:rPr>
              <a:t>partagent</a:t>
            </a:r>
            <a:r>
              <a:rPr sz="1450" b="0" i="0" dirty="0">
                <a:solidFill>
                  <a:srgbClr val="F0DEB8"/>
                </a:solidFill>
                <a:latin typeface="Segoe UI"/>
              </a:rPr>
              <a:t> des moments </a:t>
            </a:r>
            <a:r>
              <a:rPr sz="1450" b="0" i="0" dirty="0" err="1">
                <a:solidFill>
                  <a:srgbClr val="F0DEB8"/>
                </a:solidFill>
                <a:latin typeface="Segoe UI"/>
              </a:rPr>
              <a:t>assez</a:t>
            </a:r>
            <a:r>
              <a:rPr sz="1450" b="0" i="0" dirty="0">
                <a:solidFill>
                  <a:srgbClr val="F0DEB8"/>
                </a:solidFill>
                <a:latin typeface="Segoe UI"/>
              </a:rPr>
              <a:t> </a:t>
            </a:r>
            <a:r>
              <a:rPr sz="1450" b="0" i="0" dirty="0" err="1">
                <a:solidFill>
                  <a:srgbClr val="F0DEB8"/>
                </a:solidFill>
                <a:latin typeface="Segoe UI"/>
              </a:rPr>
              <a:t>plaisants</a:t>
            </a:r>
            <a:r>
              <a:rPr sz="1450" b="0" i="0" dirty="0">
                <a:solidFill>
                  <a:srgbClr val="F0DEB8"/>
                </a:solidFill>
                <a:latin typeface="Segoe UI"/>
              </a:rPr>
              <a:t> pour </a:t>
            </a:r>
            <a:r>
              <a:rPr sz="1450" b="0" i="0" dirty="0" err="1">
                <a:solidFill>
                  <a:srgbClr val="F0DEB8"/>
                </a:solidFill>
                <a:latin typeface="Segoe UI"/>
              </a:rPr>
              <a:t>être</a:t>
            </a:r>
            <a:r>
              <a:rPr sz="1450" b="0" i="0" dirty="0">
                <a:solidFill>
                  <a:srgbClr val="F0DEB8"/>
                </a:solidFill>
                <a:latin typeface="Segoe UI"/>
              </a:rPr>
              <a:t>, </a:t>
            </a:r>
            <a:r>
              <a:rPr sz="1450" b="0" i="0" dirty="0" err="1">
                <a:solidFill>
                  <a:srgbClr val="F0DEB8"/>
                </a:solidFill>
                <a:latin typeface="Segoe UI"/>
              </a:rPr>
              <a:t>justement</a:t>
            </a:r>
            <a:r>
              <a:rPr sz="1450" b="0" i="0" dirty="0">
                <a:solidFill>
                  <a:srgbClr val="F0DEB8"/>
                </a:solidFill>
                <a:latin typeface="Segoe UI"/>
              </a:rPr>
              <a:t>, </a:t>
            </a:r>
            <a:r>
              <a:rPr sz="1450" b="0" i="0" dirty="0" err="1">
                <a:solidFill>
                  <a:srgbClr val="F0DEB8"/>
                </a:solidFill>
                <a:latin typeface="Segoe UI"/>
              </a:rPr>
              <a:t>en</a:t>
            </a:r>
            <a:r>
              <a:rPr sz="1450" b="0" i="0" dirty="0">
                <a:solidFill>
                  <a:srgbClr val="F0DEB8"/>
                </a:solidFill>
                <a:latin typeface="Segoe UI"/>
              </a:rPr>
              <a:t> </a:t>
            </a:r>
            <a:r>
              <a:rPr sz="1450" b="0" i="0" dirty="0" err="1">
                <a:solidFill>
                  <a:srgbClr val="F0DEB8"/>
                </a:solidFill>
                <a:latin typeface="Segoe UI"/>
              </a:rPr>
              <a:t>harmonie</a:t>
            </a:r>
            <a:r>
              <a:rPr sz="1450" b="0" i="0" dirty="0">
                <a:solidFill>
                  <a:srgbClr val="F0DEB8"/>
                </a:solidFill>
                <a:latin typeface="Segoe U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50992"/>
            <a:ext cx="104241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CB2E62"/>
                </a:solidFill>
                <a:latin typeface="Segoe UI"/>
              </a:rPr>
              <a:t>« De la discorde naît l'Harmonie. 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LE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Ce que fait l'application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211A1D"/>
          </a:solidFill>
          <a:ln w="13970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CB2E62"/>
                </a:solidFill>
                <a:latin typeface="Segoe UI"/>
              </a:rPr>
              <a:t>Comptes &amp; profils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3108960" cy="2651760"/>
          </a:xfrm>
          <a:prstGeom prst="rect">
            <a:avLst/>
          </a:prstGeom>
          <a:noFill/>
        </p:spPr>
        <p:txBody>
          <a:bodyPr wrap="square" lIns="0" tIns="0" rIns="0" bIns="45720" anchor="t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400" dirty="0">
                <a:solidFill>
                  <a:srgbClr val="F0DEB8"/>
                </a:solidFill>
                <a:latin typeface="Segoe UI"/>
              </a:rPr>
              <a:t>Inscription / </a:t>
            </a:r>
            <a:r>
              <a:rPr sz="1400" dirty="0" err="1">
                <a:solidFill>
                  <a:srgbClr val="F0DEB8"/>
                </a:solidFill>
                <a:latin typeface="Segoe UI"/>
              </a:rPr>
              <a:t>connexion</a:t>
            </a:r>
            <a:endParaRPr lang="en-US" sz="1400" dirty="0">
              <a:solidFill>
                <a:srgbClr val="F0DEB8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lang="en-US" sz="1400" dirty="0" err="1">
                <a:solidFill>
                  <a:srgbClr val="F0DEB8"/>
                </a:solidFill>
                <a:latin typeface="Segoe UI"/>
              </a:rPr>
              <a:t>Création</a:t>
            </a:r>
            <a:r>
              <a:rPr lang="en-US" sz="1400" dirty="0">
                <a:solidFill>
                  <a:srgbClr val="F0DEB8"/>
                </a:solidFill>
                <a:latin typeface="Segoe UI"/>
              </a:rPr>
              <a:t> de </a:t>
            </a:r>
            <a:r>
              <a:rPr lang="en-US" sz="1400" dirty="0" err="1">
                <a:solidFill>
                  <a:srgbClr val="F0DEB8"/>
                </a:solidFill>
                <a:latin typeface="Segoe UI"/>
              </a:rPr>
              <a:t>profil</a:t>
            </a:r>
            <a:endParaRPr sz="1400" dirty="0" err="1">
              <a:solidFill>
                <a:srgbClr val="F0DEB8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dirty="0">
                <a:solidFill>
                  <a:srgbClr val="CB2E62"/>
                </a:solidFill>
                <a:latin typeface="Segoe UI"/>
              </a:rPr>
              <a:t>▸ </a:t>
            </a:r>
            <a:r>
              <a:rPr lang="en-US" sz="1400" dirty="0" err="1">
                <a:solidFill>
                  <a:srgbClr val="EFDDB7"/>
                </a:solidFill>
                <a:latin typeface="Segoe UI"/>
              </a:rPr>
              <a:t>Profil</a:t>
            </a:r>
            <a:r>
              <a:rPr lang="en-US" sz="1400" b="1" dirty="0">
                <a:solidFill>
                  <a:srgbClr val="EFDDB7"/>
                </a:solidFill>
                <a:latin typeface="Segoe UI"/>
              </a:rPr>
              <a:t> </a:t>
            </a:r>
            <a:r>
              <a:rPr lang="en-US" sz="1400" dirty="0">
                <a:solidFill>
                  <a:srgbClr val="EFDDB7"/>
                </a:solidFill>
                <a:latin typeface="Segoe UI"/>
              </a:rPr>
              <a:t>CRUD</a:t>
            </a:r>
            <a:endParaRPr sz="1400" dirty="0">
              <a:solidFill>
                <a:srgbClr val="F0DEB8"/>
              </a:solidFill>
              <a:latin typeface="Segoe UI"/>
              <a:cs typeface="Segoe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34256" y="178308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211A1D"/>
          </a:solidFill>
          <a:ln w="13970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2856" y="194767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CB2E62"/>
                </a:solidFill>
                <a:latin typeface="Segoe UI"/>
              </a:rPr>
              <a:t>Serveurs &amp; canaux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6" y="2368296"/>
            <a:ext cx="3108960" cy="2651760"/>
          </a:xfrm>
          <a:prstGeom prst="rect">
            <a:avLst/>
          </a:prstGeom>
          <a:noFill/>
        </p:spPr>
        <p:txBody>
          <a:bodyPr wrap="square" lIns="0" tIns="0" r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00">
                <a:solidFill>
                  <a:srgbClr val="F0DEB8"/>
                </a:solidFill>
                <a:latin typeface="Segoe UI"/>
              </a:rPr>
              <a:t>Création / suppression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00">
                <a:solidFill>
                  <a:srgbClr val="F0DEB8"/>
                </a:solidFill>
                <a:latin typeface="Segoe UI"/>
              </a:rPr>
              <a:t>Canaux &amp; catégories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00">
                <a:solidFill>
                  <a:srgbClr val="F0DEB8"/>
                </a:solidFill>
                <a:latin typeface="Segoe UI"/>
              </a:rPr>
              <a:t>Invitations par lien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00">
                <a:solidFill>
                  <a:srgbClr val="F0DEB8"/>
                </a:solidFill>
                <a:latin typeface="Segoe UI"/>
              </a:rPr>
              <a:t>Permissions par rôle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178308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211A1D"/>
          </a:solidFill>
          <a:ln w="13970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57031" y="194767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CB2E62"/>
                </a:solidFill>
                <a:latin typeface="Segoe UI"/>
              </a:rPr>
              <a:t>Temps réel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368296"/>
            <a:ext cx="3108960" cy="2651760"/>
          </a:xfrm>
          <a:prstGeom prst="rect">
            <a:avLst/>
          </a:prstGeom>
          <a:noFill/>
        </p:spPr>
        <p:txBody>
          <a:bodyPr wrap="square" lIns="0" tIns="0" r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00">
                <a:solidFill>
                  <a:srgbClr val="F0DEB8"/>
                </a:solidFill>
                <a:latin typeface="Segoe UI"/>
              </a:rPr>
              <a:t>Messages instantanés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00">
                <a:solidFill>
                  <a:srgbClr val="F0DEB8"/>
                </a:solidFill>
                <a:latin typeface="Segoe UI"/>
              </a:rPr>
              <a:t>Édition &amp; suppression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00">
                <a:solidFill>
                  <a:srgbClr val="F0DEB8"/>
                </a:solidFill>
                <a:latin typeface="Segoe UI"/>
              </a:rPr>
              <a:t>Pièces jointes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00">
                <a:solidFill>
                  <a:srgbClr val="F0DEB8"/>
                </a:solidFill>
                <a:latin typeface="Segoe UI"/>
              </a:rPr>
              <a:t>Recherche &amp; membres en ligne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Stack &amp; approche hybride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 i="0">
                <a:solidFill>
                  <a:srgbClr val="CB2E62"/>
                </a:solidFill>
                <a:latin typeface="Segoe UI"/>
              </a:rPr>
              <a:t>La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5212080" cy="3291840"/>
          </a:xfrm>
          <a:prstGeom prst="rect">
            <a:avLst/>
          </a:prstGeom>
          <a:noFill/>
        </p:spPr>
        <p:txBody>
          <a:bodyPr wrap="square" lIns="0" tIns="0" rIns="0" bIns="45720" anchor="t">
            <a:no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550">
                <a:solidFill>
                  <a:srgbClr val="F0DEB8"/>
                </a:solidFill>
                <a:latin typeface="Segoe UI"/>
              </a:rPr>
              <a:t>PHP 8.4 · Symfony 8 (MVC)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550" dirty="0">
                <a:solidFill>
                  <a:srgbClr val="F0DEB8"/>
                </a:solidFill>
                <a:latin typeface="Segoe UI"/>
              </a:rPr>
              <a:t>MySQL </a:t>
            </a:r>
            <a:r>
              <a:rPr lang="en-US" sz="1550" dirty="0" err="1">
                <a:solidFill>
                  <a:srgbClr val="F0DEB8"/>
                </a:solidFill>
                <a:latin typeface="Segoe UI"/>
              </a:rPr>
              <a:t>comme</a:t>
            </a:r>
            <a:r>
              <a:rPr lang="en-US" sz="1550" dirty="0">
                <a:solidFill>
                  <a:srgbClr val="F0DEB8"/>
                </a:solidFill>
                <a:latin typeface="Segoe UI"/>
              </a:rPr>
              <a:t> SGBD </a:t>
            </a:r>
            <a:r>
              <a:rPr sz="1550" dirty="0">
                <a:solidFill>
                  <a:srgbClr val="F0DEB8"/>
                </a:solidFill>
                <a:latin typeface="Segoe UI"/>
              </a:rPr>
              <a:t>via Doctrine (ORM)</a:t>
            </a:r>
            <a:endParaRPr sz="1550" dirty="0">
              <a:solidFill>
                <a:srgbClr val="F0DEB8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550" dirty="0">
                <a:solidFill>
                  <a:srgbClr val="F0DEB8"/>
                </a:solidFill>
                <a:latin typeface="Segoe UI"/>
              </a:rPr>
              <a:t>Twig + React 19, </a:t>
            </a:r>
            <a:r>
              <a:rPr sz="1550" dirty="0" err="1">
                <a:solidFill>
                  <a:srgbClr val="F0DEB8"/>
                </a:solidFill>
                <a:latin typeface="Segoe UI"/>
              </a:rPr>
              <a:t>buildé</a:t>
            </a:r>
            <a:r>
              <a:rPr sz="1550" dirty="0">
                <a:solidFill>
                  <a:srgbClr val="F0DEB8"/>
                </a:solidFill>
                <a:latin typeface="Segoe UI"/>
              </a:rPr>
              <a:t> par Vite</a:t>
            </a:r>
            <a:endParaRPr sz="1550" dirty="0">
              <a:solidFill>
                <a:srgbClr val="F0DEB8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550" dirty="0" err="1">
                <a:solidFill>
                  <a:srgbClr val="F0DEB8"/>
                </a:solidFill>
                <a:latin typeface="Segoe UI"/>
              </a:rPr>
              <a:t>Serveur</a:t>
            </a:r>
            <a:r>
              <a:rPr sz="1550" dirty="0">
                <a:solidFill>
                  <a:srgbClr val="F0DEB8"/>
                </a:solidFill>
                <a:latin typeface="Segoe UI"/>
              </a:rPr>
              <a:t> WebSocket maison (</a:t>
            </a:r>
            <a:r>
              <a:rPr sz="1550" dirty="0" err="1">
                <a:solidFill>
                  <a:srgbClr val="F0DEB8"/>
                </a:solidFill>
                <a:latin typeface="Segoe UI"/>
              </a:rPr>
              <a:t>ReactPHP</a:t>
            </a:r>
            <a:r>
              <a:rPr sz="1550" dirty="0">
                <a:solidFill>
                  <a:srgbClr val="F0DEB8"/>
                </a:solidFill>
                <a:latin typeface="Segoe UI"/>
              </a:rPr>
              <a:t>)</a:t>
            </a:r>
            <a:endParaRPr sz="1550" dirty="0">
              <a:solidFill>
                <a:srgbClr val="F0DEB8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550">
                <a:solidFill>
                  <a:srgbClr val="F0DEB8"/>
                </a:solidFill>
                <a:latin typeface="Segoe UI"/>
              </a:rPr>
              <a:t>Le tout sous Docker Compose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700" b="1" i="0">
                <a:solidFill>
                  <a:srgbClr val="CB2E62"/>
                </a:solidFill>
                <a:latin typeface="Segoe UI"/>
              </a:rPr>
              <a:t>Twig pour le statique, React pour le dynamique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212080" cy="3291840"/>
          </a:xfrm>
          <a:prstGeom prst="rect">
            <a:avLst/>
          </a:prstGeom>
          <a:noFill/>
        </p:spPr>
        <p:txBody>
          <a:bodyPr wrap="square" lIns="0" tIns="0" rIns="0" bIns="45720" anchor="t">
            <a:no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Twig </a:t>
            </a:r>
            <a:r>
              <a:rPr sz="1500" dirty="0" err="1">
                <a:solidFill>
                  <a:srgbClr val="F0DEB8"/>
                </a:solidFill>
                <a:latin typeface="Segoe UI"/>
              </a:rPr>
              <a:t>sert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 les pages peu interactives (</a:t>
            </a:r>
            <a:r>
              <a:rPr sz="1500" dirty="0" err="1">
                <a:solidFill>
                  <a:srgbClr val="F0DEB8"/>
                </a:solidFill>
                <a:latin typeface="Segoe UI"/>
              </a:rPr>
              <a:t>accueil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, login…) : </a:t>
            </a:r>
            <a:r>
              <a:rPr sz="1500" dirty="0" err="1">
                <a:solidFill>
                  <a:srgbClr val="F0DEB8"/>
                </a:solidFill>
                <a:latin typeface="Segoe UI"/>
              </a:rPr>
              <a:t>rapide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, bon pour le SEO, et il </a:t>
            </a:r>
            <a:r>
              <a:rPr sz="1500" dirty="0" err="1">
                <a:solidFill>
                  <a:srgbClr val="F0DEB8"/>
                </a:solidFill>
                <a:latin typeface="Segoe UI"/>
              </a:rPr>
              <a:t>profite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 du CSRF et des </a:t>
            </a:r>
            <a:r>
              <a:rPr sz="1500" dirty="0" err="1">
                <a:solidFill>
                  <a:srgbClr val="F0DEB8"/>
                </a:solidFill>
                <a:latin typeface="Segoe UI"/>
              </a:rPr>
              <a:t>formulaires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 de Symfony.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React </a:t>
            </a:r>
            <a:r>
              <a:rPr sz="1500" dirty="0" err="1">
                <a:solidFill>
                  <a:srgbClr val="F0DEB8"/>
                </a:solidFill>
                <a:latin typeface="Segoe UI"/>
              </a:rPr>
              <a:t>gère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 la page de chat, très </a:t>
            </a:r>
            <a:r>
              <a:rPr lang="en-US" sz="1500" dirty="0" err="1">
                <a:solidFill>
                  <a:srgbClr val="F0DEB8"/>
                </a:solidFill>
                <a:latin typeface="Segoe UI"/>
              </a:rPr>
              <a:t>dynamique</a:t>
            </a:r>
            <a:r>
              <a:rPr lang="en-US" sz="1500" dirty="0">
                <a:solidFill>
                  <a:srgbClr val="F0DEB8"/>
                </a:solidFill>
                <a:latin typeface="Segoe UI"/>
              </a:rPr>
              <a:t> 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: il ne re-rend </a:t>
            </a:r>
            <a:r>
              <a:rPr sz="1500" dirty="0" err="1">
                <a:solidFill>
                  <a:srgbClr val="F0DEB8"/>
                </a:solidFill>
                <a:latin typeface="Segoe UI"/>
              </a:rPr>
              <a:t>que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F0DEB8"/>
                </a:solidFill>
                <a:latin typeface="Segoe UI"/>
              </a:rPr>
              <a:t>ce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 qui </a:t>
            </a:r>
            <a:r>
              <a:rPr sz="1500" dirty="0" err="1">
                <a:solidFill>
                  <a:srgbClr val="F0DEB8"/>
                </a:solidFill>
                <a:latin typeface="Segoe UI"/>
              </a:rPr>
              <a:t>bouge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.</a:t>
            </a:r>
            <a:endParaRPr sz="1500" dirty="0">
              <a:solidFill>
                <a:srgbClr val="F0DEB8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500" dirty="0" err="1">
                <a:solidFill>
                  <a:srgbClr val="F0DEB8"/>
                </a:solidFill>
                <a:latin typeface="Segoe UI"/>
              </a:rPr>
              <a:t>Chaque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 techno </a:t>
            </a:r>
            <a:r>
              <a:rPr sz="1500" dirty="0" err="1">
                <a:solidFill>
                  <a:srgbClr val="F0DEB8"/>
                </a:solidFill>
                <a:latin typeface="Segoe UI"/>
              </a:rPr>
              <a:t>là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F0DEB8"/>
                </a:solidFill>
                <a:latin typeface="Segoe UI"/>
              </a:rPr>
              <a:t>où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F0DEB8"/>
                </a:solidFill>
                <a:latin typeface="Segoe UI"/>
              </a:rPr>
              <a:t>elle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 est la plus </a:t>
            </a:r>
            <a:r>
              <a:rPr sz="1500" dirty="0" err="1">
                <a:solidFill>
                  <a:srgbClr val="F0DEB8"/>
                </a:solidFill>
                <a:latin typeface="Segoe UI"/>
              </a:rPr>
              <a:t>pertinente</a:t>
            </a:r>
            <a:r>
              <a:rPr sz="1500" dirty="0">
                <a:solidFill>
                  <a:srgbClr val="F0DEB8"/>
                </a:solidFill>
                <a:latin typeface="Segoe UI"/>
              </a:rPr>
              <a:t>.</a:t>
            </a:r>
            <a:endParaRPr sz="1500" dirty="0">
              <a:solidFill>
                <a:srgbClr val="F0DEB8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EEB1C-CFEC-798E-DFC1-991E775FA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970A3E9-31A7-6A4A-8711-4B5FC63CDA8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5ABD1F-57A5-75E2-E77C-26C49F4B95CF}"/>
              </a:ext>
            </a:extLst>
          </p:cNvPr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27CEDA-CAD2-C427-C670-5BB93FF92545}"/>
              </a:ext>
            </a:extLst>
          </p:cNvPr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711CB-9B24-6B69-841F-908FD8C4DCE8}"/>
              </a:ext>
            </a:extLst>
          </p:cNvPr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TECHNIQUE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968E3C-19DE-7E79-F679-E8F54434B569}"/>
              </a:ext>
            </a:extLst>
          </p:cNvPr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900" b="1" dirty="0" err="1">
                <a:solidFill>
                  <a:srgbClr val="F0DEB8"/>
                </a:solidFill>
                <a:latin typeface="Segoe UI"/>
                <a:cs typeface="Segoe UI"/>
              </a:rPr>
              <a:t>L'expérience</a:t>
            </a:r>
            <a:r>
              <a:rPr lang="en-US" sz="2900" b="1" dirty="0">
                <a:solidFill>
                  <a:srgbClr val="F0DEB8"/>
                </a:solidFill>
                <a:latin typeface="Segoe UI"/>
                <a:cs typeface="Segoe UI"/>
              </a:rPr>
              <a:t> </a:t>
            </a:r>
            <a:r>
              <a:rPr lang="en-US" sz="2900" b="1" dirty="0" err="1">
                <a:solidFill>
                  <a:srgbClr val="F0DEB8"/>
                </a:solidFill>
                <a:latin typeface="Segoe UI"/>
                <a:cs typeface="Segoe UI"/>
              </a:rPr>
              <a:t>utilisateur</a:t>
            </a:r>
            <a:endParaRPr lang="en-US" sz="2900" b="1" i="0" dirty="0" err="1">
              <a:solidFill>
                <a:srgbClr val="F0DEB8"/>
              </a:solidFill>
              <a:latin typeface="Segoe UI"/>
              <a:cs typeface="Segoe U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E93C08-C879-B73B-1CD5-01C11E831498}"/>
              </a:ext>
            </a:extLst>
          </p:cNvPr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A6CF84-6576-A89F-E5D9-2C2947F3C951}"/>
              </a:ext>
            </a:extLst>
          </p:cNvPr>
          <p:cNvSpPr txBox="1"/>
          <p:nvPr/>
        </p:nvSpPr>
        <p:spPr>
          <a:xfrm>
            <a:off x="822960" y="17373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 b="1">
                <a:solidFill>
                  <a:srgbClr val="CB2E62"/>
                </a:solidFill>
                <a:latin typeface="Segoe UI"/>
                <a:ea typeface="Calibri"/>
                <a:cs typeface="Segoe UI"/>
              </a:rPr>
              <a:t>La maquette</a:t>
            </a:r>
            <a:endParaRPr lang="en-US" sz="2000" b="1" dirty="0">
              <a:solidFill>
                <a:srgbClr val="CB2E62"/>
              </a:solidFill>
              <a:latin typeface="Segoe UI"/>
              <a:ea typeface="Calibri"/>
              <a:cs typeface="Segoe 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9D67E8-8480-454B-E88D-BC037DF901AF}"/>
              </a:ext>
            </a:extLst>
          </p:cNvPr>
          <p:cNvSpPr txBox="1"/>
          <p:nvPr/>
        </p:nvSpPr>
        <p:spPr>
          <a:xfrm>
            <a:off x="822960" y="2194560"/>
            <a:ext cx="5212080" cy="3291840"/>
          </a:xfrm>
          <a:prstGeom prst="rect">
            <a:avLst/>
          </a:prstGeom>
          <a:noFill/>
        </p:spPr>
        <p:txBody>
          <a:bodyPr wrap="square" lIns="0" tIns="0" rIns="0" bIns="45720" anchor="t">
            <a:no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 dirty="0">
                <a:solidFill>
                  <a:srgbClr val="CB2E62"/>
                </a:solidFill>
                <a:latin typeface="Segoe UI"/>
              </a:rPr>
              <a:t>▸</a:t>
            </a:r>
            <a:r>
              <a:rPr lang="en-US" sz="1550" b="1" dirty="0">
                <a:solidFill>
                  <a:srgbClr val="CB2E62"/>
                </a:solidFill>
                <a:latin typeface="Segoe UI"/>
              </a:rPr>
              <a:t> </a:t>
            </a:r>
            <a:r>
              <a:rPr lang="en-US" sz="1600" dirty="0">
                <a:solidFill>
                  <a:srgbClr val="F0DEB8"/>
                </a:solidFill>
                <a:latin typeface="Calibri"/>
                <a:ea typeface="Calibri"/>
                <a:cs typeface="Calibri"/>
              </a:rPr>
              <a:t>Wireframes</a:t>
            </a:r>
            <a:r>
              <a:rPr lang="en-US" sz="1600" dirty="0">
                <a:solidFill>
                  <a:srgbClr val="F0DEB8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F0DEB8"/>
                </a:solidFill>
                <a:ea typeface="+mn-lt"/>
                <a:cs typeface="+mn-lt"/>
              </a:rPr>
              <a:t>puis</a:t>
            </a:r>
            <a:r>
              <a:rPr lang="en-US" sz="1600" dirty="0">
                <a:solidFill>
                  <a:srgbClr val="F0DEB8"/>
                </a:solidFill>
                <a:ea typeface="+mn-lt"/>
                <a:cs typeface="+mn-lt"/>
              </a:rPr>
              <a:t> maquette </a:t>
            </a:r>
            <a:r>
              <a:rPr lang="en-US" sz="1600" dirty="0" err="1">
                <a:solidFill>
                  <a:srgbClr val="F0DEB8"/>
                </a:solidFill>
                <a:ea typeface="+mn-lt"/>
                <a:cs typeface="+mn-lt"/>
              </a:rPr>
              <a:t>faite</a:t>
            </a:r>
            <a:r>
              <a:rPr lang="en-US" sz="1600" dirty="0">
                <a:solidFill>
                  <a:srgbClr val="F0DEB8"/>
                </a:solidFill>
                <a:ea typeface="+mn-lt"/>
                <a:cs typeface="+mn-lt"/>
              </a:rPr>
              <a:t> sur 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Figma</a:t>
            </a:r>
            <a:r>
              <a:rPr lang="en-US" sz="1600" dirty="0">
                <a:solidFill>
                  <a:srgbClr val="F0DEB8"/>
                </a:solidFill>
                <a:ea typeface="+mn-lt"/>
                <a:cs typeface="+mn-lt"/>
              </a:rPr>
              <a:t> haute-</a:t>
            </a:r>
            <a:r>
              <a:rPr lang="en-US" sz="1600" dirty="0" err="1">
                <a:solidFill>
                  <a:srgbClr val="F0DEB8"/>
                </a:solidFill>
                <a:ea typeface="+mn-lt"/>
                <a:cs typeface="+mn-lt"/>
              </a:rPr>
              <a:t>fidélité</a:t>
            </a:r>
            <a:r>
              <a:rPr lang="en-US" sz="1600" dirty="0">
                <a:solidFill>
                  <a:srgbClr val="F0DEB8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F0DEB8"/>
                </a:solidFill>
                <a:ea typeface="+mn-lt"/>
                <a:cs typeface="+mn-lt"/>
              </a:rPr>
              <a:t>conçus</a:t>
            </a:r>
            <a:r>
              <a:rPr lang="en-US" sz="1600" dirty="0">
                <a:solidFill>
                  <a:srgbClr val="F0DEB8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F0DEB8"/>
                </a:solidFill>
                <a:ea typeface="+mn-lt"/>
                <a:cs typeface="+mn-lt"/>
              </a:rPr>
              <a:t>en</a:t>
            </a:r>
            <a:r>
              <a:rPr lang="en-US" sz="1600" dirty="0">
                <a:solidFill>
                  <a:srgbClr val="F0DEB8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F0DEB8"/>
                </a:solidFill>
                <a:ea typeface="+mn-lt"/>
                <a:cs typeface="+mn-lt"/>
              </a:rPr>
              <a:t>amont</a:t>
            </a:r>
            <a:r>
              <a:rPr lang="en-US" sz="1600" dirty="0">
                <a:solidFill>
                  <a:srgbClr val="F0DEB8"/>
                </a:solidFill>
                <a:ea typeface="+mn-lt"/>
                <a:cs typeface="+mn-lt"/>
              </a:rPr>
              <a:t>, avant le </a:t>
            </a:r>
            <a:r>
              <a:rPr lang="en-US" sz="1600" dirty="0" err="1">
                <a:solidFill>
                  <a:srgbClr val="F0DEB8"/>
                </a:solidFill>
                <a:ea typeface="+mn-lt"/>
                <a:cs typeface="+mn-lt"/>
              </a:rPr>
              <a:t>développemen</a:t>
            </a:r>
            <a:r>
              <a:rPr lang="en-US" sz="1550" dirty="0" err="1">
                <a:solidFill>
                  <a:srgbClr val="F0DEB8"/>
                </a:solidFill>
                <a:ea typeface="+mn-lt"/>
                <a:cs typeface="+mn-lt"/>
              </a:rPr>
              <a:t>t</a:t>
            </a:r>
            <a:endParaRPr lang="en-US" dirty="0" err="1"/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Structure pensée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autour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de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repères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connus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(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serveurs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· salons · messages) →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prise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en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main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immédiate</a:t>
            </a:r>
            <a:endParaRPr sz="1600">
              <a:solidFill>
                <a:srgbClr val="EFDDB7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50" b="1" dirty="0">
                <a:solidFill>
                  <a:srgbClr val="CB2E62"/>
                </a:solidFill>
                <a:latin typeface="Segoe UI"/>
              </a:rPr>
              <a:t>▸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Sert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de fil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conducteur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entre la conception et le code React</a:t>
            </a:r>
            <a:b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</a:br>
            <a:r>
              <a:rPr lang="en-US" sz="1600" b="1" dirty="0">
                <a:solidFill>
                  <a:srgbClr val="CB2E62"/>
                </a:solidFill>
                <a:latin typeface="Segoe UI"/>
                <a:ea typeface="+mn-lt"/>
                <a:cs typeface="Segoe UI"/>
              </a:rPr>
              <a:t>▸ </a:t>
            </a:r>
            <a:r>
              <a:rPr lang="en-US" sz="1600" dirty="0">
                <a:solidFill>
                  <a:srgbClr val="EFDDB7"/>
                </a:solidFill>
                <a:latin typeface="Calibri"/>
                <a:ea typeface="+mn-lt"/>
                <a:cs typeface="Calibri"/>
              </a:rPr>
              <a:t>Le site est </a:t>
            </a:r>
            <a:r>
              <a:rPr lang="en-US" sz="1600" dirty="0" err="1">
                <a:solidFill>
                  <a:srgbClr val="EFDDB7"/>
                </a:solidFill>
                <a:latin typeface="Calibri"/>
                <a:ea typeface="+mn-lt"/>
                <a:cs typeface="Calibri"/>
              </a:rPr>
              <a:t>pensé</a:t>
            </a:r>
            <a:r>
              <a:rPr lang="en-US" sz="1600" dirty="0">
                <a:solidFill>
                  <a:srgbClr val="EFDDB7"/>
                </a:solidFill>
                <a:latin typeface="Calibri"/>
                <a:ea typeface="+mn-lt"/>
                <a:cs typeface="Calibri"/>
              </a:rPr>
              <a:t> pour </a:t>
            </a:r>
            <a:r>
              <a:rPr lang="en-US" sz="1600" dirty="0" err="1">
                <a:solidFill>
                  <a:srgbClr val="EFDDB7"/>
                </a:solidFill>
                <a:latin typeface="Calibri"/>
                <a:ea typeface="+mn-lt"/>
                <a:cs typeface="Calibri"/>
              </a:rPr>
              <a:t>être</a:t>
            </a:r>
            <a:r>
              <a:rPr lang="en-US" sz="1600" dirty="0">
                <a:solidFill>
                  <a:srgbClr val="EFDDB7"/>
                </a:solidFill>
                <a:latin typeface="Calibri"/>
                <a:ea typeface="+mn-lt"/>
                <a:cs typeface="Calibri"/>
              </a:rPr>
              <a:t> responsive</a:t>
            </a:r>
            <a:endParaRPr lang="en-US" sz="1600" dirty="0">
              <a:solidFill>
                <a:srgbClr val="EFDDB7"/>
              </a:solidFill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3F433B-C7AB-95CF-EE4F-F7BB59D78D4A}"/>
              </a:ext>
            </a:extLst>
          </p:cNvPr>
          <p:cNvSpPr txBox="1"/>
          <p:nvPr/>
        </p:nvSpPr>
        <p:spPr>
          <a:xfrm>
            <a:off x="6400800" y="173736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 b="1">
                <a:solidFill>
                  <a:srgbClr val="CB2E62"/>
                </a:solidFill>
                <a:ea typeface="+mn-lt"/>
                <a:cs typeface="+mn-lt"/>
              </a:rPr>
              <a:t>Le choix du code couleur</a:t>
            </a:r>
            <a:endParaRPr lang="en-US" sz="2000" b="1"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F0A50-8B40-A4DB-553A-1DBFACA911F3}"/>
              </a:ext>
            </a:extLst>
          </p:cNvPr>
          <p:cNvSpPr txBox="1"/>
          <p:nvPr/>
        </p:nvSpPr>
        <p:spPr>
          <a:xfrm>
            <a:off x="6400800" y="2194560"/>
            <a:ext cx="5212080" cy="3291840"/>
          </a:xfrm>
          <a:prstGeom prst="rect">
            <a:avLst/>
          </a:prstGeom>
          <a:noFill/>
        </p:spPr>
        <p:txBody>
          <a:bodyPr wrap="square" lIns="0" tIns="0" rIns="0" bIns="45720" anchor="t">
            <a:no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CB2E62"/>
                </a:solidFill>
                <a:latin typeface="Segoe UI"/>
              </a:rPr>
              <a:t>▸ </a:t>
            </a:r>
            <a:r>
              <a:rPr sz="1600" b="1" dirty="0">
                <a:solidFill>
                  <a:srgbClr val="EFDDB7"/>
                </a:solidFill>
                <a:latin typeface="Segoe UI"/>
              </a:rPr>
              <a:t>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Thème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sombre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par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défaut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(Carbone) →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confort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visuel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,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pensé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pour les sessions longues</a:t>
            </a:r>
            <a:endParaRPr lang="en-US" sz="1600">
              <a:solidFill>
                <a:srgbClr val="EFDDB7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Couleur signature Crimson →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une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identité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forte qui se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démarque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des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messageries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«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froides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et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bleues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» (Discord, Slack)</a:t>
            </a:r>
            <a:endParaRPr sz="1600">
              <a:solidFill>
                <a:srgbClr val="EFDDB7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 dirty="0">
                <a:solidFill>
                  <a:srgbClr val="CB2E62"/>
                </a:solidFill>
                <a:latin typeface="Segoe UI"/>
              </a:rPr>
              <a:t>▸ </a:t>
            </a:r>
            <a:r>
              <a:rPr sz="1600" b="1" dirty="0">
                <a:solidFill>
                  <a:srgbClr val="EFDDB7"/>
                </a:solidFill>
                <a:latin typeface="Segoe UI"/>
              </a:rPr>
              <a:t>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Secondaire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crème #F0DEB8 → de la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chaleur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,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en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</a:t>
            </a:r>
            <a:r>
              <a:rPr lang="en-US" sz="1600" dirty="0" err="1">
                <a:solidFill>
                  <a:srgbClr val="EFDDB7"/>
                </a:solidFill>
                <a:ea typeface="+mn-lt"/>
                <a:cs typeface="+mn-lt"/>
              </a:rPr>
              <a:t>cohérence</a:t>
            </a:r>
            <a:r>
              <a:rPr lang="en-US" sz="1600" dirty="0">
                <a:solidFill>
                  <a:srgbClr val="EFDDB7"/>
                </a:solidFill>
                <a:ea typeface="+mn-lt"/>
                <a:cs typeface="+mn-lt"/>
              </a:rPr>
              <a:t> avec le nom Harmonie</a:t>
            </a:r>
            <a:endParaRPr sz="1600" dirty="0">
              <a:solidFill>
                <a:srgbClr val="EFDDB7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418417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Architecture : Symfony au centre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293995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211A1D"/>
          </a:solidFill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0DEB8"/>
                </a:solidFill>
                <a:latin typeface="Segoe UI"/>
              </a:rPr>
              <a:t>Navigateur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A89D82"/>
                </a:solidFill>
                <a:latin typeface="Segoe UI"/>
              </a:rPr>
              <a:t>React 19 + Twig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74519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211A1D"/>
          </a:solidFill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5720" rIns="73152" bIns="45720" rtlCol="0" anchor="ctr">
            <a:noAutofit/>
          </a:bodyPr>
          <a:lstStyle/>
          <a:p>
            <a:pPr algn="ctr"/>
            <a:r>
              <a:rPr lang="en-US" sz="1300" b="1">
                <a:solidFill>
                  <a:srgbClr val="F0DEB8"/>
                </a:solidFill>
                <a:latin typeface="Segoe UI"/>
              </a:rPr>
              <a:t>Serveur Symfony</a:t>
            </a:r>
            <a:r>
              <a:rPr sz="1300" b="1" dirty="0">
                <a:solidFill>
                  <a:srgbClr val="F0DEB8"/>
                </a:solidFill>
                <a:latin typeface="Segoe UI"/>
              </a:rPr>
              <a:t> </a:t>
            </a:r>
            <a:r>
              <a:rPr lang="en-US" sz="1300" b="1" dirty="0">
                <a:solidFill>
                  <a:srgbClr val="F0DEB8"/>
                </a:solidFill>
                <a:latin typeface="Segoe UI"/>
              </a:rPr>
              <a:t>(Source de vérité)</a:t>
            </a:r>
            <a:endParaRPr sz="1300" b="1" dirty="0">
              <a:solidFill>
                <a:srgbClr val="F0DEB8"/>
              </a:solidFill>
              <a:latin typeface="Segoe UI"/>
            </a:endParaRP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89D82"/>
                </a:solidFill>
                <a:latin typeface="Segoe UI"/>
              </a:rPr>
              <a:t>Controllers · Sécurité · Doctrine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874519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1B1B1B"/>
          </a:solidFill>
          <a:ln w="15875">
            <a:solidFill>
              <a:srgbClr val="A89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0DEB8"/>
                </a:solidFill>
                <a:latin typeface="Segoe UI"/>
              </a:rPr>
              <a:t>MySQL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977639"/>
            <a:ext cx="3291840" cy="1097280"/>
          </a:xfrm>
          <a:prstGeom prst="roundRect">
            <a:avLst>
              <a:gd name="adj" fmla="val 10000"/>
            </a:avLst>
          </a:prstGeom>
          <a:solidFill>
            <a:srgbClr val="211A1D"/>
          </a:solidFill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0DEB8"/>
                </a:solidFill>
                <a:latin typeface="Segoe UI"/>
              </a:rPr>
              <a:t>Serveur WebSocket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89D82"/>
                </a:solidFill>
                <a:latin typeface="Segoe UI"/>
              </a:rPr>
              <a:t>ReactPHP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200399" y="2391931"/>
            <a:ext cx="1365354" cy="285062"/>
          </a:xfrm>
          <a:prstGeom prst="line">
            <a:avLst/>
          </a:prstGeom>
          <a:ln w="28575">
            <a:solidFill>
              <a:srgbClr val="A818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938322" y="2226689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A89D82"/>
                </a:solidFill>
                <a:latin typeface="Segoe UI"/>
              </a:rPr>
              <a:t>HTTP / JSON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0" y="2423160"/>
            <a:ext cx="1005840" cy="0"/>
          </a:xfrm>
          <a:prstGeom prst="line">
            <a:avLst/>
          </a:prstGeom>
          <a:ln w="28575">
            <a:solidFill>
              <a:srgbClr val="A818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18120" y="21031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A89D82"/>
                </a:solidFill>
                <a:latin typeface="Segoe UI"/>
              </a:rPr>
              <a:t>Doctrine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12891" y="3214141"/>
            <a:ext cx="1340372" cy="1220699"/>
          </a:xfrm>
          <a:prstGeom prst="line">
            <a:avLst/>
          </a:prstGeom>
          <a:ln w="28575">
            <a:solidFill>
              <a:srgbClr val="A818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51760" y="452628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1050" b="0" i="0">
                <a:solidFill>
                  <a:srgbClr val="A89D82"/>
                </a:solidFill>
                <a:latin typeface="Segoe UI"/>
              </a:rPr>
              <a:t>WebSocket (temps réel)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305363" y="2971800"/>
            <a:ext cx="0" cy="1005839"/>
          </a:xfrm>
          <a:prstGeom prst="line">
            <a:avLst/>
          </a:prstGeom>
          <a:ln w="28575">
            <a:solidFill>
              <a:srgbClr val="A818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23719" y="3358546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50" b="0" i="0">
                <a:solidFill>
                  <a:srgbClr val="A89D82"/>
                </a:solidFill>
                <a:latin typeface="Segoe UI"/>
              </a:rPr>
              <a:t>IPC (clé secrète + token)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86400"/>
            <a:ext cx="10927080" cy="868680"/>
          </a:xfrm>
          <a:prstGeom prst="roundRect">
            <a:avLst>
              <a:gd name="adj" fmla="val 6000"/>
            </a:avLst>
          </a:prstGeom>
          <a:solidFill>
            <a:srgbClr val="211A1D"/>
          </a:solidFill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6235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0" i="0">
                <a:solidFill>
                  <a:srgbClr val="F0DEB8"/>
                </a:solidFill>
                <a:latin typeface="Segoe UI"/>
              </a:rPr>
              <a:t>Symfony = unique source de vérité : le serveur WebSocket ne touche jamais la base. Il passe par Symfony, qui vérifie les permissions avant d'enregistrer ou de diffuser quoi que ce soit.</a:t>
            </a:r>
          </a:p>
        </p:txBody>
      </p:sp>
      <p:cxnSp>
        <p:nvCxnSpPr>
          <p:cNvPr id="22" name="Connector 17">
            <a:extLst>
              <a:ext uri="{FF2B5EF4-FFF2-40B4-BE49-F238E27FC236}">
                <a16:creationId xmlns:a16="http://schemas.microsoft.com/office/drawing/2014/main" id="{13FA49F4-5C0F-CF8C-DCC8-8CD1D125384E}"/>
              </a:ext>
            </a:extLst>
          </p:cNvPr>
          <p:cNvCxnSpPr>
            <a:cxnSpLocks/>
          </p:cNvCxnSpPr>
          <p:nvPr/>
        </p:nvCxnSpPr>
        <p:spPr>
          <a:xfrm flipH="1">
            <a:off x="6149215" y="3034510"/>
            <a:ext cx="12490" cy="942879"/>
          </a:xfrm>
          <a:prstGeom prst="line">
            <a:avLst/>
          </a:prstGeom>
          <a:ln w="28575">
            <a:solidFill>
              <a:srgbClr val="A818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PARCOURS UTILISATEUR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Le chemin de l'utilisateur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377440"/>
            <a:ext cx="1938528" cy="1280160"/>
          </a:xfrm>
          <a:prstGeom prst="roundRect">
            <a:avLst>
              <a:gd name="adj" fmla="val 10000"/>
            </a:avLst>
          </a:prstGeom>
          <a:solidFill>
            <a:srgbClr val="211A1D"/>
          </a:solidFill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0DEB8"/>
                </a:solidFill>
                <a:latin typeface="Segoe UI"/>
              </a:rPr>
              <a:t>Accueil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15184" y="3017520"/>
            <a:ext cx="338328" cy="0"/>
          </a:xfrm>
          <a:prstGeom prst="line">
            <a:avLst/>
          </a:prstGeom>
          <a:ln w="28575">
            <a:solidFill>
              <a:srgbClr val="A818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90088" y="2377440"/>
            <a:ext cx="1938528" cy="1280160"/>
          </a:xfrm>
          <a:prstGeom prst="roundRect">
            <a:avLst>
              <a:gd name="adj" fmla="val 10000"/>
            </a:avLst>
          </a:prstGeom>
          <a:solidFill>
            <a:srgbClr val="1B1B1B"/>
          </a:solidFill>
          <a:ln w="15875">
            <a:solidFill>
              <a:srgbClr val="A89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0DEB8"/>
                </a:solidFill>
                <a:latin typeface="Segoe UI"/>
              </a:rPr>
              <a:t>Inscription /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89D82"/>
                </a:solidFill>
                <a:latin typeface="Segoe UI"/>
              </a:rPr>
              <a:t>Connexion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65192" y="3017520"/>
            <a:ext cx="338328" cy="0"/>
          </a:xfrm>
          <a:prstGeom prst="line">
            <a:avLst/>
          </a:prstGeom>
          <a:ln w="28575">
            <a:solidFill>
              <a:srgbClr val="A818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40096" y="2377440"/>
            <a:ext cx="1938528" cy="1280160"/>
          </a:xfrm>
          <a:prstGeom prst="roundRect">
            <a:avLst>
              <a:gd name="adj" fmla="val 10000"/>
            </a:avLst>
          </a:prstGeom>
          <a:solidFill>
            <a:srgbClr val="211A1D"/>
          </a:solidFill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0DEB8"/>
                </a:solidFill>
                <a:latin typeface="Segoe UI"/>
              </a:rPr>
              <a:t>Page /app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89D82"/>
                </a:solidFill>
                <a:latin typeface="Segoe UI"/>
              </a:rPr>
              <a:t>(le chat)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3017520"/>
            <a:ext cx="338328" cy="0"/>
          </a:xfrm>
          <a:prstGeom prst="line">
            <a:avLst/>
          </a:prstGeom>
          <a:ln w="28575">
            <a:solidFill>
              <a:srgbClr val="A818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90104" y="2377440"/>
            <a:ext cx="1938528" cy="1280160"/>
          </a:xfrm>
          <a:prstGeom prst="roundRect">
            <a:avLst>
              <a:gd name="adj" fmla="val 10000"/>
            </a:avLst>
          </a:prstGeom>
          <a:solidFill>
            <a:srgbClr val="1B1B1B"/>
          </a:solidFill>
          <a:ln w="15875">
            <a:solidFill>
              <a:srgbClr val="A89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45720" rIns="73152" bIns="45720" rtlCol="0" anchor="ctr">
            <a:noAutofit/>
          </a:bodyPr>
          <a:lstStyle/>
          <a:p>
            <a:pPr algn="ctr"/>
            <a:r>
              <a:rPr sz="1300" b="1" dirty="0" err="1">
                <a:solidFill>
                  <a:srgbClr val="F0DEB8"/>
                </a:solidFill>
                <a:latin typeface="Segoe UI"/>
              </a:rPr>
              <a:t>Rejoindre</a:t>
            </a:r>
            <a:r>
              <a:rPr lang="en-US" sz="1300" b="1" dirty="0">
                <a:solidFill>
                  <a:srgbClr val="F0DEB8"/>
                </a:solidFill>
                <a:latin typeface="Segoe UI"/>
              </a:rPr>
              <a:t> </a:t>
            </a:r>
            <a:r>
              <a:rPr lang="en-US" sz="1300" b="1" dirty="0" err="1">
                <a:solidFill>
                  <a:srgbClr val="F0DEB8"/>
                </a:solidFill>
                <a:latin typeface="Segoe UI"/>
              </a:rPr>
              <a:t>ou</a:t>
            </a:r>
            <a:r>
              <a:rPr lang="en-US" sz="1300" b="1" dirty="0">
                <a:solidFill>
                  <a:srgbClr val="F0DEB8"/>
                </a:solidFill>
                <a:latin typeface="Segoe UI"/>
              </a:rPr>
              <a:t> </a:t>
            </a:r>
            <a:r>
              <a:rPr lang="en-US" sz="1300" b="1" dirty="0" err="1">
                <a:solidFill>
                  <a:srgbClr val="F0DEB8"/>
                </a:solidFill>
                <a:latin typeface="Segoe UI"/>
              </a:rPr>
              <a:t>créer</a:t>
            </a:r>
            <a:r>
              <a:rPr lang="en-US" sz="1300" b="1" dirty="0">
                <a:solidFill>
                  <a:srgbClr val="F0DEB8"/>
                </a:solidFill>
                <a:latin typeface="Segoe UI"/>
              </a:rPr>
              <a:t> un</a:t>
            </a:r>
            <a:endParaRPr sz="1300" b="1" dirty="0">
              <a:solidFill>
                <a:srgbClr val="F0DEB8"/>
              </a:solidFill>
              <a:latin typeface="Segoe UI"/>
            </a:endParaRPr>
          </a:p>
          <a:p>
            <a:pPr algn="ctr">
              <a:lnSpc>
                <a:spcPct val="100000"/>
              </a:lnSpc>
            </a:pPr>
            <a:r>
              <a:rPr sz="1150" b="0" dirty="0" err="1">
                <a:solidFill>
                  <a:srgbClr val="A89D82"/>
                </a:solidFill>
                <a:latin typeface="Segoe UI"/>
              </a:rPr>
              <a:t>serveur</a:t>
            </a:r>
            <a:r>
              <a:rPr sz="1150" b="0" dirty="0">
                <a:solidFill>
                  <a:srgbClr val="A89D82"/>
                </a:solidFill>
                <a:latin typeface="Segoe UI"/>
              </a:rPr>
              <a:t> (lien)</a:t>
            </a:r>
            <a:endParaRPr sz="1150" b="0" dirty="0">
              <a:solidFill>
                <a:srgbClr val="A89D82"/>
              </a:solidFill>
              <a:latin typeface="Segoe UI"/>
              <a:cs typeface="Segoe U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9665208" y="3017520"/>
            <a:ext cx="338328" cy="0"/>
          </a:xfrm>
          <a:prstGeom prst="line">
            <a:avLst/>
          </a:prstGeom>
          <a:ln w="28575">
            <a:solidFill>
              <a:srgbClr val="A818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40112" y="2377440"/>
            <a:ext cx="1938528" cy="1280160"/>
          </a:xfrm>
          <a:prstGeom prst="roundRect">
            <a:avLst>
              <a:gd name="adj" fmla="val 10000"/>
            </a:avLst>
          </a:prstGeom>
          <a:solidFill>
            <a:srgbClr val="211A1D"/>
          </a:solidFill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0DEB8"/>
                </a:solidFill>
                <a:latin typeface="Segoe UI"/>
              </a:rPr>
              <a:t>Discuter en</a:t>
            </a:r>
          </a:p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A89D82"/>
                </a:solidFill>
                <a:latin typeface="Segoe UI"/>
              </a:rPr>
              <a:t>temps réel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1">
                <a:solidFill>
                  <a:srgbClr val="A89D82"/>
                </a:solidFill>
                <a:latin typeface="Segoe UI"/>
              </a:rPr>
              <a:t>Les prochaines slides montrent le code derrière l'inscription, le temps réel et l'envoi d'un message.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PARCOURS UTILISATEUR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Inscription &amp; connexion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0078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CB2E62"/>
                </a:solidFill>
                <a:latin typeface="Consolas"/>
              </a:rPr>
              <a:t>RegistrationController.php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6400800" cy="3291840"/>
          </a:xfrm>
          <a:prstGeom prst="roundRect">
            <a:avLst>
              <a:gd name="adj" fmla="val 4000"/>
            </a:avLst>
          </a:prstGeom>
          <a:solidFill>
            <a:srgbClr val="0D0D0D"/>
          </a:solidFill>
          <a:ln w="12700">
            <a:solidFill>
              <a:srgbClr val="3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91440" rtlCol="0" anchor="t">
            <a:noAutofit/>
          </a:bodyPr>
          <a:lstStyle/>
          <a:p>
            <a:pPr algn="ctr"/>
            <a:r>
              <a:rPr sz="1150" dirty="0">
                <a:solidFill>
                  <a:srgbClr val="8A7E60"/>
                </a:solidFill>
                <a:latin typeface="Consolas"/>
              </a:rPr>
              <a:t>// Le mot de passe </a:t>
            </a:r>
            <a:r>
              <a:rPr sz="1150" dirty="0" err="1">
                <a:solidFill>
                  <a:srgbClr val="8A7E60"/>
                </a:solidFill>
                <a:latin typeface="Consolas"/>
              </a:rPr>
              <a:t>n'est</a:t>
            </a:r>
            <a:r>
              <a:rPr sz="1150" dirty="0">
                <a:solidFill>
                  <a:srgbClr val="8A7E60"/>
                </a:solidFill>
                <a:latin typeface="Consolas"/>
              </a:rPr>
              <a:t> jamais </a:t>
            </a:r>
            <a:r>
              <a:rPr sz="1150" dirty="0" err="1">
                <a:solidFill>
                  <a:srgbClr val="8A7E60"/>
                </a:solidFill>
                <a:latin typeface="Consolas"/>
              </a:rPr>
              <a:t>stocké</a:t>
            </a:r>
            <a:r>
              <a:rPr sz="1150" dirty="0">
                <a:solidFill>
                  <a:srgbClr val="8A7E60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8A7E60"/>
                </a:solidFill>
                <a:latin typeface="Consolas"/>
              </a:rPr>
              <a:t>en</a:t>
            </a:r>
            <a:r>
              <a:rPr sz="1150" dirty="0">
                <a:solidFill>
                  <a:srgbClr val="8A7E60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8A7E60"/>
                </a:solidFill>
                <a:latin typeface="Consolas"/>
              </a:rPr>
              <a:t>clair</a:t>
            </a:r>
            <a:endParaRPr lang="en-US" sz="1150" dirty="0" err="1">
              <a:solidFill>
                <a:srgbClr val="8A7E60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ECE6D5"/>
                </a:solidFill>
                <a:latin typeface="Consolas"/>
              </a:rPr>
              <a:t>$user-&gt;</a:t>
            </a:r>
            <a:r>
              <a:rPr sz="1150" dirty="0" err="1">
                <a:solidFill>
                  <a:srgbClr val="ECE6D5"/>
                </a:solidFill>
                <a:latin typeface="Consolas"/>
              </a:rPr>
              <a:t>setPassword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(</a:t>
            </a:r>
          </a:p>
          <a:p>
            <a:r>
              <a:rPr sz="1150" dirty="0">
                <a:solidFill>
                  <a:srgbClr val="ECE6D5"/>
                </a:solidFill>
                <a:latin typeface="Consolas"/>
              </a:rPr>
              <a:t>    </a:t>
            </a:r>
            <a:r>
              <a:rPr lang="en-US" sz="1150" dirty="0">
                <a:solidFill>
                  <a:srgbClr val="ECE6D5"/>
                </a:solidFill>
                <a:latin typeface="Consolas"/>
              </a:rPr>
              <a:t>  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$</a:t>
            </a:r>
            <a:r>
              <a:rPr sz="1150" dirty="0" err="1">
                <a:solidFill>
                  <a:srgbClr val="ECE6D5"/>
                </a:solidFill>
                <a:latin typeface="Consolas"/>
              </a:rPr>
              <a:t>userPasswordHasher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-&gt;</a:t>
            </a:r>
            <a:r>
              <a:rPr sz="1150" dirty="0" err="1">
                <a:solidFill>
                  <a:srgbClr val="ECE6D5"/>
                </a:solidFill>
                <a:latin typeface="Consolas"/>
              </a:rPr>
              <a:t>hashPassword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($user, $</a:t>
            </a:r>
            <a:r>
              <a:rPr sz="1150" dirty="0" err="1">
                <a:solidFill>
                  <a:srgbClr val="ECE6D5"/>
                </a:solidFill>
                <a:latin typeface="Consolas"/>
              </a:rPr>
              <a:t>plainPassword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ECE6D5"/>
                </a:solidFill>
                <a:latin typeface="Consolas"/>
              </a:rPr>
              <a:t>);</a:t>
            </a:r>
          </a:p>
          <a:p>
            <a:endParaRPr lang="en-US" sz="1150" dirty="0">
              <a:solidFill>
                <a:srgbClr val="ECE6D5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8A7E60"/>
                </a:solidFill>
                <a:latin typeface="Consolas"/>
              </a:rPr>
              <a:t>// Jeton </a:t>
            </a:r>
            <a:r>
              <a:rPr sz="1150" dirty="0" err="1">
                <a:solidFill>
                  <a:srgbClr val="8A7E60"/>
                </a:solidFill>
                <a:latin typeface="Consolas"/>
              </a:rPr>
              <a:t>aléatoire</a:t>
            </a:r>
            <a:r>
              <a:rPr sz="1150" dirty="0">
                <a:solidFill>
                  <a:srgbClr val="8A7E60"/>
                </a:solidFill>
                <a:latin typeface="Consolas"/>
              </a:rPr>
              <a:t> pour </a:t>
            </a:r>
            <a:r>
              <a:rPr sz="1150" dirty="0" err="1">
                <a:solidFill>
                  <a:srgbClr val="8A7E60"/>
                </a:solidFill>
                <a:latin typeface="Consolas"/>
              </a:rPr>
              <a:t>authentifier</a:t>
            </a:r>
            <a:r>
              <a:rPr sz="1150" dirty="0">
                <a:solidFill>
                  <a:srgbClr val="8A7E60"/>
                </a:solidFill>
                <a:latin typeface="Consolas"/>
              </a:rPr>
              <a:t> la </a:t>
            </a:r>
            <a:r>
              <a:rPr sz="1150" dirty="0" err="1">
                <a:solidFill>
                  <a:srgbClr val="8A7E60"/>
                </a:solidFill>
                <a:latin typeface="Consolas"/>
              </a:rPr>
              <a:t>connexion</a:t>
            </a:r>
            <a:r>
              <a:rPr sz="1150" dirty="0">
                <a:solidFill>
                  <a:srgbClr val="8A7E60"/>
                </a:solidFill>
                <a:latin typeface="Consolas"/>
              </a:rPr>
              <a:t> WebSocket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ECE6D5"/>
                </a:solidFill>
                <a:latin typeface="Consolas"/>
              </a:rPr>
              <a:t>$user-&gt;</a:t>
            </a:r>
            <a:r>
              <a:rPr sz="1150" dirty="0" err="1">
                <a:solidFill>
                  <a:srgbClr val="ECE6D5"/>
                </a:solidFill>
                <a:latin typeface="Consolas"/>
              </a:rPr>
              <a:t>setToken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(bin2hex(</a:t>
            </a:r>
            <a:r>
              <a:rPr sz="1150" dirty="0" err="1">
                <a:solidFill>
                  <a:srgbClr val="ECE6D5"/>
                </a:solidFill>
                <a:latin typeface="Consolas"/>
              </a:rPr>
              <a:t>random_bytes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(48)));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ECE6D5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ECE6D5"/>
                </a:solidFill>
                <a:latin typeface="Consolas"/>
              </a:rPr>
              <a:t>$</a:t>
            </a:r>
            <a:r>
              <a:rPr sz="1150" dirty="0" err="1">
                <a:solidFill>
                  <a:srgbClr val="ECE6D5"/>
                </a:solidFill>
                <a:latin typeface="Consolas"/>
              </a:rPr>
              <a:t>entityManager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-&gt;persist($user);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ECE6D5"/>
                </a:solidFill>
                <a:latin typeface="Consolas"/>
              </a:rPr>
              <a:t>$</a:t>
            </a:r>
            <a:r>
              <a:rPr sz="1150" dirty="0" err="1">
                <a:solidFill>
                  <a:srgbClr val="ECE6D5"/>
                </a:solidFill>
                <a:latin typeface="Consolas"/>
              </a:rPr>
              <a:t>entityManager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-&gt;flush();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ECE6D5"/>
                </a:solidFill>
                <a:latin typeface="Consolas"/>
              </a:rPr>
              <a:t>return $security-&gt;login($user, '</a:t>
            </a:r>
            <a:r>
              <a:rPr sz="1150" dirty="0" err="1">
                <a:solidFill>
                  <a:srgbClr val="ECE6D5"/>
                </a:solidFill>
                <a:latin typeface="Consolas"/>
              </a:rPr>
              <a:t>form_login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', 'main');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103120"/>
            <a:ext cx="4206240" cy="3291840"/>
          </a:xfrm>
          <a:prstGeom prst="rect">
            <a:avLst/>
          </a:prstGeom>
          <a:noFill/>
        </p:spPr>
        <p:txBody>
          <a:bodyPr wrap="square" lIns="0" tIns="0" rIns="0">
            <a:no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50">
                <a:solidFill>
                  <a:srgbClr val="F0DEB8"/>
                </a:solidFill>
                <a:latin typeface="Segoe UI"/>
              </a:rPr>
              <a:t>Formulaire généré et validé par Symfony, protégé par jeton CSRF.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50">
                <a:solidFill>
                  <a:srgbClr val="F0DEB8"/>
                </a:solidFill>
                <a:latin typeface="Segoe UI"/>
              </a:rPr>
              <a:t>Hachage « auto » → bcrypt / argon2.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4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50">
                <a:solidFill>
                  <a:srgbClr val="F0DEB8"/>
                </a:solidFill>
                <a:latin typeface="Segoe UI"/>
              </a:rPr>
              <a:t>Connexion gérée par le firewall, avec « remember me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LE TEMPS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Un WebSocket écrit à la main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i="1">
                <a:solidFill>
                  <a:srgbClr val="A89D82"/>
                </a:solidFill>
                <a:latin typeface="Segoe UI"/>
              </a:rPr>
              <a:t>Pas de bibliothèque clé en main : j'ai implémenté le protocole moi-même, au-dessus de TCP.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938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CB2E62"/>
                </a:solidFill>
                <a:latin typeface="Consolas"/>
              </a:rPr>
              <a:t>WebSocketServer.php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6400800" cy="3200400"/>
          </a:xfrm>
          <a:prstGeom prst="roundRect">
            <a:avLst>
              <a:gd name="adj" fmla="val 4000"/>
            </a:avLst>
          </a:prstGeom>
          <a:solidFill>
            <a:srgbClr val="0D0D0D"/>
          </a:solidFill>
          <a:ln w="12700">
            <a:solidFill>
              <a:srgbClr val="3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9144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8A7E60"/>
                </a:solidFill>
                <a:latin typeface="Consolas"/>
              </a:rPr>
              <a:t>// Lecture bit à bit de la frame, </a:t>
            </a:r>
            <a:r>
              <a:rPr sz="1150" dirty="0" err="1">
                <a:solidFill>
                  <a:srgbClr val="8A7E60"/>
                </a:solidFill>
                <a:latin typeface="Consolas"/>
              </a:rPr>
              <a:t>comme</a:t>
            </a:r>
            <a:r>
              <a:rPr sz="1150" dirty="0">
                <a:solidFill>
                  <a:srgbClr val="8A7E60"/>
                </a:solidFill>
                <a:latin typeface="Consolas"/>
              </a:rPr>
              <a:t> dans la spec WebSocket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ECE6D5"/>
                </a:solidFill>
                <a:latin typeface="Consolas"/>
              </a:rPr>
              <a:t>$byte1  = </a:t>
            </a:r>
            <a:r>
              <a:rPr sz="1150" dirty="0" err="1">
                <a:solidFill>
                  <a:srgbClr val="ECE6D5"/>
                </a:solidFill>
                <a:latin typeface="Consolas"/>
              </a:rPr>
              <a:t>ord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($buffer[0]);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ECE6D5"/>
                </a:solidFill>
                <a:latin typeface="Consolas"/>
              </a:rPr>
              <a:t>$FIN    = $byte1 &gt;&gt; 7;            // dernier fragment ?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ECE6D5"/>
                </a:solidFill>
                <a:latin typeface="Consolas"/>
              </a:rPr>
              <a:t>$opcode = $byte1 &amp; 15;           // type de frame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ECE6D5"/>
                </a:solidFill>
                <a:latin typeface="Consolas"/>
              </a:rPr>
              <a:t>$</a:t>
            </a:r>
            <a:r>
              <a:rPr sz="1150" dirty="0" err="1">
                <a:solidFill>
                  <a:srgbClr val="ECE6D5"/>
                </a:solidFill>
                <a:latin typeface="Consolas"/>
              </a:rPr>
              <a:t>len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    = </a:t>
            </a:r>
            <a:r>
              <a:rPr sz="1150" dirty="0" err="1">
                <a:solidFill>
                  <a:srgbClr val="ECE6D5"/>
                </a:solidFill>
                <a:latin typeface="Consolas"/>
              </a:rPr>
              <a:t>ord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($buffer[1]) &amp; 127; // taille du payload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8A7E60"/>
                </a:solidFill>
                <a:latin typeface="Consolas"/>
              </a:rPr>
              <a:t>// ... </a:t>
            </a:r>
            <a:r>
              <a:rPr sz="1150" dirty="0" err="1">
                <a:solidFill>
                  <a:srgbClr val="8A7E60"/>
                </a:solidFill>
                <a:latin typeface="Consolas"/>
              </a:rPr>
              <a:t>puis</a:t>
            </a:r>
            <a:r>
              <a:rPr sz="1150" dirty="0">
                <a:solidFill>
                  <a:srgbClr val="8A7E60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8A7E60"/>
                </a:solidFill>
                <a:latin typeface="Consolas"/>
              </a:rPr>
              <a:t>démasquage</a:t>
            </a:r>
            <a:r>
              <a:rPr sz="1150" dirty="0">
                <a:solidFill>
                  <a:srgbClr val="8A7E60"/>
                </a:solidFill>
                <a:latin typeface="Consolas"/>
              </a:rPr>
              <a:t> du payload avec la </a:t>
            </a:r>
            <a:r>
              <a:rPr sz="1150" dirty="0" err="1">
                <a:solidFill>
                  <a:srgbClr val="8A7E60"/>
                </a:solidFill>
                <a:latin typeface="Consolas"/>
              </a:rPr>
              <a:t>clé</a:t>
            </a:r>
            <a:r>
              <a:rPr sz="1150" dirty="0">
                <a:solidFill>
                  <a:srgbClr val="8A7E60"/>
                </a:solidFill>
                <a:latin typeface="Consolas"/>
              </a:rPr>
              <a:t> de </a:t>
            </a:r>
            <a:r>
              <a:rPr sz="1150" dirty="0" err="1">
                <a:solidFill>
                  <a:srgbClr val="8A7E60"/>
                </a:solidFill>
                <a:latin typeface="Consolas"/>
              </a:rPr>
              <a:t>masquage</a:t>
            </a:r>
            <a:r>
              <a:rPr sz="1150" dirty="0">
                <a:solidFill>
                  <a:srgbClr val="8A7E60"/>
                </a:solidFill>
                <a:latin typeface="Consolas"/>
              </a:rPr>
              <a:t> ...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ECE6D5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8A7E60"/>
                </a:solidFill>
                <a:latin typeface="Consolas"/>
              </a:rPr>
              <a:t>// Garde-</a:t>
            </a:r>
            <a:r>
              <a:rPr sz="1150" dirty="0" err="1">
                <a:solidFill>
                  <a:srgbClr val="8A7E60"/>
                </a:solidFill>
                <a:latin typeface="Consolas"/>
              </a:rPr>
              <a:t>fou</a:t>
            </a:r>
            <a:r>
              <a:rPr sz="1150" dirty="0">
                <a:solidFill>
                  <a:srgbClr val="8A7E60"/>
                </a:solidFill>
                <a:latin typeface="Consolas"/>
              </a:rPr>
              <a:t> anti-DoS : on </a:t>
            </a:r>
            <a:r>
              <a:rPr sz="1150" dirty="0" err="1">
                <a:solidFill>
                  <a:srgbClr val="8A7E60"/>
                </a:solidFill>
                <a:latin typeface="Consolas"/>
              </a:rPr>
              <a:t>jette</a:t>
            </a:r>
            <a:r>
              <a:rPr sz="1150" dirty="0">
                <a:solidFill>
                  <a:srgbClr val="8A7E60"/>
                </a:solidFill>
                <a:latin typeface="Consolas"/>
              </a:rPr>
              <a:t> les messages trop gros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dirty="0">
                <a:solidFill>
                  <a:srgbClr val="ECE6D5"/>
                </a:solidFill>
                <a:latin typeface="Consolas"/>
              </a:rPr>
              <a:t>if (</a:t>
            </a:r>
            <a:r>
              <a:rPr sz="1150" dirty="0" err="1">
                <a:solidFill>
                  <a:srgbClr val="ECE6D5"/>
                </a:solidFill>
                <a:latin typeface="Consolas"/>
              </a:rPr>
              <a:t>strlen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($buffer) &gt; $this-&gt;</a:t>
            </a:r>
            <a:r>
              <a:rPr sz="1150" dirty="0" err="1">
                <a:solidFill>
                  <a:srgbClr val="ECE6D5"/>
                </a:solidFill>
                <a:latin typeface="Consolas"/>
              </a:rPr>
              <a:t>maxMessageLength</a:t>
            </a:r>
            <a:r>
              <a:rPr sz="1150" dirty="0">
                <a:solidFill>
                  <a:srgbClr val="ECE6D5"/>
                </a:solidFill>
                <a:latin typeface="Consolas"/>
              </a:rPr>
              <a:t>) {</a:t>
            </a:r>
          </a:p>
          <a:p>
            <a:r>
              <a:rPr sz="1150" dirty="0">
                <a:solidFill>
                  <a:srgbClr val="ECE6D5"/>
                </a:solidFill>
                <a:latin typeface="Consolas"/>
              </a:rPr>
              <a:t>    </a:t>
            </a:r>
            <a:r>
              <a:rPr lang="en-US" sz="1150" dirty="0">
                <a:solidFill>
                  <a:srgbClr val="ECE6D5"/>
                </a:solidFill>
                <a:latin typeface="Consolas"/>
              </a:rPr>
              <a:t> </a:t>
            </a:r>
            <a:r>
              <a:rPr lang="en-US" sz="1150">
                <a:solidFill>
                  <a:srgbClr val="ECE6D5"/>
                </a:solidFill>
                <a:latin typeface="Consolas"/>
              </a:rPr>
              <a:t> </a:t>
            </a:r>
            <a:r>
              <a:rPr sz="1150">
                <a:solidFill>
                  <a:srgbClr val="ECE6D5"/>
                </a:solidFill>
                <a:latin typeface="Consolas"/>
              </a:rPr>
              <a:t>$buffer = ""; return;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>
                <a:solidFill>
                  <a:srgbClr val="ECE6D5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240280"/>
            <a:ext cx="4206240" cy="3291840"/>
          </a:xfrm>
          <a:prstGeom prst="rect">
            <a:avLst/>
          </a:prstGeom>
          <a:noFill/>
        </p:spPr>
        <p:txBody>
          <a:bodyPr wrap="square" lIns="0" tIns="0" rIns="0">
            <a:no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00">
                <a:solidFill>
                  <a:srgbClr val="F0DEB8"/>
                </a:solidFill>
                <a:latin typeface="Segoe UI"/>
              </a:rPr>
              <a:t>Handshake HTTP, décodage des frames (bitmask), démasquage.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00">
                <a:solidFill>
                  <a:srgbClr val="F0DEB8"/>
                </a:solidFill>
                <a:latin typeface="Segoe UI"/>
              </a:rPr>
              <a:t>Garde-fous : frames à payload vide (ping / close) et limite anti-DoS.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00">
                <a:solidFill>
                  <a:srgbClr val="F0DEB8"/>
                </a:solidFill>
                <a:latin typeface="Segoe UI"/>
              </a:rPr>
              <a:t>Je voulais comprendre le protocole, pas juste l'importer.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400" b="1">
                <a:solidFill>
                  <a:srgbClr val="CB2E62"/>
                </a:solidFill>
                <a:latin typeface="Segoe UI"/>
              </a:rPr>
              <a:t>▸  </a:t>
            </a:r>
            <a:r>
              <a:rPr sz="1400">
                <a:solidFill>
                  <a:srgbClr val="F0DEB8"/>
                </a:solidFill>
                <a:latin typeface="Segoe UI"/>
              </a:rPr>
              <a:t>La connexion s'authentifie dès le handshake via le cookie (slide suivante).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LE TEMPS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Authentifier la connexion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55063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CB2E62"/>
                </a:solidFill>
                <a:latin typeface="Consolas"/>
              </a:rPr>
              <a:t>LoginSuccessListener.php — à la connexion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0D0D0D"/>
          </a:solidFill>
          <a:ln w="12700">
            <a:solidFill>
              <a:srgbClr val="3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9144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8A7E60"/>
                </a:solidFill>
                <a:latin typeface="Consolas"/>
              </a:rPr>
              <a:t>// À la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connexion</a:t>
            </a:r>
            <a:r>
              <a:rPr sz="1100" dirty="0">
                <a:solidFill>
                  <a:srgbClr val="8A7E60"/>
                </a:solidFill>
                <a:latin typeface="Consolas"/>
              </a:rPr>
              <a:t> : on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dépose</a:t>
            </a:r>
            <a:r>
              <a:rPr sz="1100" dirty="0">
                <a:solidFill>
                  <a:srgbClr val="8A7E60"/>
                </a:solidFill>
                <a:latin typeface="Consolas"/>
              </a:rPr>
              <a:t> le jeton dans un cookie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sûr</a:t>
            </a:r>
            <a:endParaRPr lang="en-US" sz="1100" dirty="0" err="1">
              <a:solidFill>
                <a:srgbClr val="8A7E60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CE6D5"/>
                </a:solidFill>
                <a:latin typeface="Consolas"/>
              </a:rPr>
              <a:t>$cookie = Cookie::create('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tokenHarmonie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')</a:t>
            </a:r>
          </a:p>
          <a:p>
            <a:r>
              <a:rPr sz="1100" dirty="0">
                <a:solidFill>
                  <a:srgbClr val="ECE6D5"/>
                </a:solidFill>
                <a:latin typeface="Consolas"/>
              </a:rPr>
              <a:t>    </a:t>
            </a:r>
            <a:r>
              <a:rPr lang="en-US" sz="1100" dirty="0">
                <a:solidFill>
                  <a:srgbClr val="ECE6D5"/>
                </a:solidFill>
                <a:latin typeface="Consolas"/>
              </a:rPr>
              <a:t>  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-&gt;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withValue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($user-&gt;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getToken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())</a:t>
            </a:r>
          </a:p>
          <a:p>
            <a:r>
              <a:rPr sz="1100" dirty="0">
                <a:solidFill>
                  <a:srgbClr val="ECE6D5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ECE6D5"/>
                </a:solidFill>
                <a:latin typeface="Consolas"/>
              </a:rPr>
              <a:t> 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   -&gt;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withSecure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(true)     // HTTPS 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uniquement</a:t>
            </a:r>
            <a:endParaRPr sz="1100" dirty="0">
              <a:solidFill>
                <a:srgbClr val="ECE6D5"/>
              </a:solidFill>
              <a:latin typeface="Consolas"/>
            </a:endParaRPr>
          </a:p>
          <a:p>
            <a:r>
              <a:rPr sz="1100" dirty="0">
                <a:solidFill>
                  <a:srgbClr val="ECE6D5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ECE6D5"/>
                </a:solidFill>
                <a:latin typeface="Consolas"/>
              </a:rPr>
              <a:t> 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   -&gt;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withHttpOnly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(true)   // invisible au JS (anti-XSS)</a:t>
            </a:r>
          </a:p>
          <a:p>
            <a:r>
              <a:rPr sz="1100" dirty="0">
                <a:solidFill>
                  <a:srgbClr val="ECE6D5"/>
                </a:solidFill>
                <a:latin typeface="Consolas"/>
              </a:rPr>
              <a:t> </a:t>
            </a:r>
            <a:r>
              <a:rPr lang="en-US" sz="1100" dirty="0">
                <a:solidFill>
                  <a:srgbClr val="ECE6D5"/>
                </a:solidFill>
                <a:latin typeface="Consolas"/>
              </a:rPr>
              <a:t> 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   -&gt;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withSameSite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('strict');</a:t>
            </a:r>
          </a:p>
          <a:p>
            <a:endParaRPr lang="en-US" sz="1100" dirty="0">
              <a:solidFill>
                <a:srgbClr val="ECE6D5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CE6D5"/>
                </a:solidFill>
                <a:latin typeface="Consolas"/>
              </a:rPr>
              <a:t>$response-&gt;headers-&gt;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setCookie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($cookie);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55063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CB2E62"/>
                </a:solidFill>
                <a:latin typeface="Consolas"/>
              </a:rPr>
              <a:t>ChatWebsocket.php — au handshake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6596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0D0D0D"/>
          </a:solidFill>
          <a:ln w="12700">
            <a:solidFill>
              <a:srgbClr val="3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9144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8A7E60"/>
                </a:solidFill>
                <a:latin typeface="Consolas"/>
              </a:rPr>
              <a:t>// Le handshake WS est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une</a:t>
            </a:r>
            <a:r>
              <a:rPr sz="1100" dirty="0">
                <a:solidFill>
                  <a:srgbClr val="8A7E6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requête</a:t>
            </a:r>
            <a:r>
              <a:rPr sz="1100" dirty="0">
                <a:solidFill>
                  <a:srgbClr val="8A7E60"/>
                </a:solidFill>
                <a:latin typeface="Consolas"/>
              </a:rPr>
              <a:t> HTTP : il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porte</a:t>
            </a:r>
            <a:r>
              <a:rPr sz="1100" dirty="0">
                <a:solidFill>
                  <a:srgbClr val="8A7E60"/>
                </a:solidFill>
                <a:latin typeface="Consolas"/>
              </a:rPr>
              <a:t> le cookie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 err="1">
                <a:solidFill>
                  <a:srgbClr val="ECE6D5"/>
                </a:solidFill>
                <a:latin typeface="Consolas"/>
              </a:rPr>
              <a:t>preg_match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('/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tokenHarmonie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=(.*?)(?:;)/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i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', $buffer, $m);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CE6D5"/>
                </a:solidFill>
                <a:latin typeface="Consolas"/>
              </a:rPr>
              <a:t>$details = $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symfonyIPC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-&gt;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checkCredentials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(trim($m[1]));</a:t>
            </a:r>
          </a:p>
          <a:p>
            <a:endParaRPr lang="en-US" sz="1100" dirty="0">
              <a:solidFill>
                <a:srgbClr val="ECE6D5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ECE6D5"/>
                </a:solidFill>
                <a:latin typeface="Consolas"/>
              </a:rPr>
              <a:t>if ($details) {</a:t>
            </a:r>
          </a:p>
          <a:p>
            <a:r>
              <a:rPr sz="1100" dirty="0">
                <a:solidFill>
                  <a:srgbClr val="ECE6D5"/>
                </a:solidFill>
                <a:latin typeface="Consolas"/>
              </a:rPr>
              <a:t>    </a:t>
            </a:r>
            <a:r>
              <a:rPr lang="en-US" sz="1100" dirty="0">
                <a:solidFill>
                  <a:srgbClr val="ECE6D5"/>
                </a:solidFill>
                <a:latin typeface="Consolas"/>
              </a:rPr>
              <a:t>  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$user-&gt;authenticated = true;   // 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connexion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autorisée</a:t>
            </a:r>
            <a:endParaRPr sz="1100" dirty="0">
              <a:solidFill>
                <a:srgbClr val="ECE6D5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ECE6D5"/>
                </a:solidFill>
                <a:latin typeface="Consolas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29200"/>
            <a:ext cx="10927080" cy="914400"/>
          </a:xfrm>
          <a:prstGeom prst="roundRect">
            <a:avLst>
              <a:gd name="adj" fmla="val 6000"/>
            </a:avLst>
          </a:prstGeom>
          <a:solidFill>
            <a:srgbClr val="211A1D"/>
          </a:solidFill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1663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350" b="0" i="0">
                <a:solidFill>
                  <a:srgbClr val="F0DEB8"/>
                </a:solidFill>
                <a:latin typeface="Segoe UI"/>
              </a:rPr>
              <a:t>Le handshake WebSocket est une requête HTTP : il transporte déjà le cookie. Aucun jeton exposé au JavaScript, aucun message d'authentification à gérer — le cookie HttpOnly + SameSite fait foi.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LE TEMPS RÉEL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Envoyer un message, de bout en bout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938528" cy="960120"/>
          </a:xfrm>
          <a:prstGeom prst="roundRect">
            <a:avLst>
              <a:gd name="adj" fmla="val 10000"/>
            </a:avLst>
          </a:prstGeom>
          <a:solidFill>
            <a:srgbClr val="211A1D"/>
          </a:solidFill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0DEB8"/>
                </a:solidFill>
                <a:latin typeface="Segoe UI"/>
              </a:rPr>
              <a:t>React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89D82"/>
                </a:solidFill>
                <a:latin typeface="Segoe UI"/>
              </a:rPr>
              <a:t>envoi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15184" y="2034540"/>
            <a:ext cx="338328" cy="0"/>
          </a:xfrm>
          <a:prstGeom prst="line">
            <a:avLst/>
          </a:prstGeom>
          <a:ln w="28575">
            <a:solidFill>
              <a:srgbClr val="A818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990088" y="1554480"/>
            <a:ext cx="1938528" cy="960120"/>
          </a:xfrm>
          <a:prstGeom prst="roundRect">
            <a:avLst>
              <a:gd name="adj" fmla="val 10000"/>
            </a:avLst>
          </a:prstGeom>
          <a:solidFill>
            <a:srgbClr val="1B1B1B"/>
          </a:solidFill>
          <a:ln w="15875">
            <a:solidFill>
              <a:srgbClr val="A89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0DEB8"/>
                </a:solidFill>
                <a:latin typeface="Segoe UI"/>
              </a:rPr>
              <a:t>Serveur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89D82"/>
                </a:solidFill>
                <a:latin typeface="Segoe UI"/>
              </a:rPr>
              <a:t>WebSocket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65192" y="2034540"/>
            <a:ext cx="338328" cy="0"/>
          </a:xfrm>
          <a:prstGeom prst="line">
            <a:avLst/>
          </a:prstGeom>
          <a:ln w="28575">
            <a:solidFill>
              <a:srgbClr val="A818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340096" y="1554480"/>
            <a:ext cx="1938528" cy="960120"/>
          </a:xfrm>
          <a:prstGeom prst="roundRect">
            <a:avLst>
              <a:gd name="adj" fmla="val 10000"/>
            </a:avLst>
          </a:prstGeom>
          <a:solidFill>
            <a:srgbClr val="211A1D"/>
          </a:solidFill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0DEB8"/>
                </a:solidFill>
                <a:latin typeface="Segoe UI"/>
              </a:rPr>
              <a:t>Symfony · IPC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89D82"/>
                </a:solidFill>
                <a:latin typeface="Segoe UI"/>
              </a:rPr>
              <a:t>permission + BDD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2034540"/>
            <a:ext cx="338328" cy="0"/>
          </a:xfrm>
          <a:prstGeom prst="line">
            <a:avLst/>
          </a:prstGeom>
          <a:ln w="28575">
            <a:solidFill>
              <a:srgbClr val="A818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690104" y="1554480"/>
            <a:ext cx="1938528" cy="960120"/>
          </a:xfrm>
          <a:prstGeom prst="roundRect">
            <a:avLst>
              <a:gd name="adj" fmla="val 10000"/>
            </a:avLst>
          </a:prstGeom>
          <a:solidFill>
            <a:srgbClr val="1B1B1B"/>
          </a:solidFill>
          <a:ln w="15875">
            <a:solidFill>
              <a:srgbClr val="A89D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0DEB8"/>
                </a:solidFill>
                <a:latin typeface="Segoe UI"/>
              </a:rPr>
              <a:t>Broadcast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89D82"/>
                </a:solidFill>
                <a:latin typeface="Segoe UI"/>
              </a:rPr>
              <a:t>WebSocket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65208" y="2034540"/>
            <a:ext cx="338328" cy="0"/>
          </a:xfrm>
          <a:prstGeom prst="line">
            <a:avLst/>
          </a:prstGeom>
          <a:ln w="28575">
            <a:solidFill>
              <a:srgbClr val="A8184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40112" y="1554480"/>
            <a:ext cx="1938528" cy="960120"/>
          </a:xfrm>
          <a:prstGeom prst="roundRect">
            <a:avLst>
              <a:gd name="adj" fmla="val 10000"/>
            </a:avLst>
          </a:prstGeom>
          <a:solidFill>
            <a:srgbClr val="211A1D"/>
          </a:solidFill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0DEB8"/>
                </a:solidFill>
                <a:latin typeface="Segoe UI"/>
              </a:rPr>
              <a:t>Membres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89D82"/>
                </a:solidFill>
                <a:latin typeface="Segoe UI"/>
              </a:rPr>
              <a:t>autorisés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43784"/>
            <a:ext cx="10927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CB2E62"/>
                </a:solidFill>
                <a:latin typeface="Consolas"/>
              </a:rPr>
              <a:t>WebsocketController::saveMessage()  —  Symfony, source de vérité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54680"/>
            <a:ext cx="10927080" cy="2926080"/>
          </a:xfrm>
          <a:prstGeom prst="roundRect">
            <a:avLst>
              <a:gd name="adj" fmla="val 4000"/>
            </a:avLst>
          </a:prstGeom>
          <a:solidFill>
            <a:srgbClr val="0D0D0D"/>
          </a:solidFill>
          <a:ln w="12700">
            <a:solidFill>
              <a:srgbClr val="3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9144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A7E60"/>
                </a:solidFill>
                <a:latin typeface="Consolas"/>
              </a:rPr>
              <a:t>// Le serveur vérifie le droit d'ÉCRIRE avant d'enregistrer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CE6D5"/>
                </a:solidFill>
                <a:latin typeface="Consolas"/>
              </a:rPr>
              <a:t>if (!$permissionManager-&gt;canAccessChannel(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CE6D5"/>
                </a:solidFill>
                <a:latin typeface="Consolas"/>
              </a:rPr>
              <a:t>        $channelId, $userId, $roles, PermissionEnum::Write))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CE6D5"/>
                </a:solidFill>
                <a:latin typeface="Consolas"/>
              </a:rPr>
              <a:t>    throw $this-&gt;createAccessDeniedException();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CE6D5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CE6D5"/>
                </a:solidFill>
                <a:latin typeface="Consolas"/>
              </a:rPr>
              <a:t>$emi-&gt;persist($message); $emi-&gt;flush();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CE6D5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8A7E60"/>
                </a:solidFill>
                <a:latin typeface="Consolas"/>
              </a:rPr>
              <a:t>// On ne diffuse qu'aux membres ayant le droit de LIRE le canal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CE6D5"/>
                </a:solidFill>
                <a:latin typeface="Consolas"/>
              </a:rPr>
              <a:t>foreach ($server-&gt;getUsers() as $member)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CE6D5"/>
                </a:solidFill>
                <a:latin typeface="Consolas"/>
              </a:rPr>
              <a:t>    if ($permissionManager-&gt;canAccessChannel(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CE6D5"/>
                </a:solidFill>
                <a:latin typeface="Consolas"/>
              </a:rPr>
              <a:t>            $channelId, $member-&gt;getId(), $roles, Read))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CE6D5"/>
                </a:solidFill>
                <a:latin typeface="Consolas"/>
              </a:rPr>
              <a:t>        $recipients[] = $member-&gt;getId();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ECE6D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La sécurité, couche par couche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572768"/>
            <a:ext cx="3246120" cy="502920"/>
          </a:xfrm>
          <a:prstGeom prst="roundRect">
            <a:avLst>
              <a:gd name="adj" fmla="val 12000"/>
            </a:avLst>
          </a:prstGeom>
          <a:solidFill>
            <a:srgbClr val="21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ctr"/>
            <a:r>
              <a:rPr sz="1300" b="1">
                <a:solidFill>
                  <a:srgbClr val="CB2E62"/>
                </a:solidFill>
                <a:latin typeface="Segoe UI"/>
              </a:rPr>
              <a:t>Injection SQL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572768"/>
            <a:ext cx="7516368" cy="50292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bIns="0" rtlCol="0" anchor="ctr"/>
          <a:lstStyle/>
          <a:p>
            <a:pPr algn="ctr"/>
            <a:r>
              <a:rPr sz="1300">
                <a:solidFill>
                  <a:srgbClr val="F0DEB8"/>
                </a:solidFill>
                <a:latin typeface="Segoe UI"/>
              </a:rPr>
              <a:t>Doctrine — requêtes préparées (setParameter)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07691"/>
            <a:ext cx="3246120" cy="502920"/>
          </a:xfrm>
          <a:prstGeom prst="roundRect">
            <a:avLst>
              <a:gd name="adj" fmla="val 12000"/>
            </a:avLst>
          </a:prstGeom>
          <a:solidFill>
            <a:srgbClr val="21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ctr"/>
            <a:r>
              <a:rPr sz="1300" b="1">
                <a:solidFill>
                  <a:srgbClr val="CB2E62"/>
                </a:solidFill>
                <a:latin typeface="Segoe UI"/>
              </a:rPr>
              <a:t>XSS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107691"/>
            <a:ext cx="7516368" cy="50292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bIns="0" rtlCol="0" anchor="ctr"/>
          <a:lstStyle/>
          <a:p>
            <a:pPr algn="ctr"/>
            <a:r>
              <a:rPr sz="1300">
                <a:solidFill>
                  <a:srgbClr val="F0DEB8"/>
                </a:solidFill>
                <a:latin typeface="Segoe UI"/>
              </a:rPr>
              <a:t>Échappement automatique (Twig &amp; React) + cookie HttpOnly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42615"/>
            <a:ext cx="3246120" cy="502920"/>
          </a:xfrm>
          <a:prstGeom prst="roundRect">
            <a:avLst>
              <a:gd name="adj" fmla="val 12000"/>
            </a:avLst>
          </a:prstGeom>
          <a:solidFill>
            <a:srgbClr val="21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ctr"/>
            <a:r>
              <a:rPr sz="1300" b="1">
                <a:solidFill>
                  <a:srgbClr val="CB2E62"/>
                </a:solidFill>
                <a:latin typeface="Segoe UI"/>
              </a:rPr>
              <a:t>CSRF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642615"/>
            <a:ext cx="7516368" cy="50292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bIns="0" rtlCol="0" anchor="ctr"/>
          <a:lstStyle/>
          <a:p>
            <a:pPr algn="ctr"/>
            <a:r>
              <a:rPr sz="1300">
                <a:solidFill>
                  <a:srgbClr val="F0DEB8"/>
                </a:solidFill>
                <a:latin typeface="Segoe UI"/>
              </a:rPr>
              <a:t>Jetons CSRF : natif côté Twig + token « app » côté React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77539"/>
            <a:ext cx="3246120" cy="502920"/>
          </a:xfrm>
          <a:prstGeom prst="roundRect">
            <a:avLst>
              <a:gd name="adj" fmla="val 12000"/>
            </a:avLst>
          </a:prstGeom>
          <a:solidFill>
            <a:srgbClr val="21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ctr"/>
            <a:r>
              <a:rPr sz="1300" b="1">
                <a:solidFill>
                  <a:srgbClr val="CB2E62"/>
                </a:solidFill>
                <a:latin typeface="Segoe UI"/>
              </a:rPr>
              <a:t>Accès non autorisé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3177539"/>
            <a:ext cx="7516368" cy="50292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bIns="0" rtlCol="0" anchor="ctr"/>
          <a:lstStyle/>
          <a:p>
            <a:pPr algn="ctr"/>
            <a:r>
              <a:rPr sz="1300">
                <a:solidFill>
                  <a:srgbClr val="F0DEB8"/>
                </a:solidFill>
                <a:latin typeface="Segoe UI"/>
              </a:rPr>
              <a:t>PermissionManager vérifié côté serveur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12463"/>
            <a:ext cx="3246120" cy="502920"/>
          </a:xfrm>
          <a:prstGeom prst="roundRect">
            <a:avLst>
              <a:gd name="adj" fmla="val 12000"/>
            </a:avLst>
          </a:prstGeom>
          <a:solidFill>
            <a:srgbClr val="21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ctr"/>
            <a:r>
              <a:rPr sz="1300" b="1">
                <a:solidFill>
                  <a:srgbClr val="CB2E62"/>
                </a:solidFill>
                <a:latin typeface="Segoe UI"/>
              </a:rPr>
              <a:t>Vol de session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23360" y="3712463"/>
            <a:ext cx="7516368" cy="50292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bIns="0" rtlCol="0" anchor="ctr"/>
          <a:lstStyle/>
          <a:p>
            <a:pPr algn="ctr"/>
            <a:r>
              <a:rPr sz="1300">
                <a:solidFill>
                  <a:srgbClr val="F0DEB8"/>
                </a:solidFill>
                <a:latin typeface="Segoe UI"/>
              </a:rPr>
              <a:t>Cookies Secure + HttpOnly + SameSite=strict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47388"/>
            <a:ext cx="3246120" cy="502920"/>
          </a:xfrm>
          <a:prstGeom prst="roundRect">
            <a:avLst>
              <a:gd name="adj" fmla="val 12000"/>
            </a:avLst>
          </a:prstGeom>
          <a:solidFill>
            <a:srgbClr val="21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ctr"/>
            <a:r>
              <a:rPr sz="1300" b="1">
                <a:solidFill>
                  <a:srgbClr val="CB2E62"/>
                </a:solidFill>
                <a:latin typeface="Segoe UI"/>
              </a:rPr>
              <a:t>Mots de passe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4247388"/>
            <a:ext cx="7516368" cy="50292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bIns="0" rtlCol="0" anchor="ctr"/>
          <a:lstStyle/>
          <a:p>
            <a:pPr algn="ctr"/>
            <a:r>
              <a:rPr sz="1300">
                <a:solidFill>
                  <a:srgbClr val="F0DEB8"/>
                </a:solidFill>
                <a:latin typeface="Segoe UI"/>
              </a:rPr>
              <a:t>Hachage « auto » (bcrypt / argon2), jamais en clair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782312"/>
            <a:ext cx="3246120" cy="502920"/>
          </a:xfrm>
          <a:prstGeom prst="roundRect">
            <a:avLst>
              <a:gd name="adj" fmla="val 12000"/>
            </a:avLst>
          </a:prstGeom>
          <a:solidFill>
            <a:srgbClr val="21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ctr"/>
            <a:r>
              <a:rPr sz="1300" b="1">
                <a:solidFill>
                  <a:srgbClr val="CB2E62"/>
                </a:solidFill>
                <a:latin typeface="Segoe UI"/>
              </a:rPr>
              <a:t>IPC Symfony ↔ WS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4782312"/>
            <a:ext cx="7516368" cy="50292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bIns="0" rtlCol="0" anchor="ctr"/>
          <a:lstStyle/>
          <a:p>
            <a:pPr algn="ctr"/>
            <a:r>
              <a:rPr sz="1300">
                <a:solidFill>
                  <a:srgbClr val="F0DEB8"/>
                </a:solidFill>
                <a:latin typeface="Segoe UI"/>
              </a:rPr>
              <a:t>Clé secrète partagée + accès réseau restreint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17236"/>
            <a:ext cx="3246120" cy="502920"/>
          </a:xfrm>
          <a:prstGeom prst="roundRect">
            <a:avLst>
              <a:gd name="adj" fmla="val 12000"/>
            </a:avLst>
          </a:prstGeom>
          <a:solidFill>
            <a:srgbClr val="211A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0" bIns="0" rtlCol="0" anchor="ctr"/>
          <a:lstStyle/>
          <a:p>
            <a:pPr algn="ctr"/>
            <a:r>
              <a:rPr sz="1300" b="1">
                <a:solidFill>
                  <a:srgbClr val="CB2E62"/>
                </a:solidFill>
                <a:latin typeface="Segoe UI"/>
              </a:rPr>
              <a:t>RGPD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5317236"/>
            <a:ext cx="7516368" cy="502920"/>
          </a:xfrm>
          <a:prstGeom prst="roundRect">
            <a:avLst>
              <a:gd name="adj" fmla="val 6000"/>
            </a:avLst>
          </a:prstGeom>
          <a:solidFill>
            <a:srgbClr val="1B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0" rIns="91440" bIns="0" rtlCol="0" anchor="ctr"/>
          <a:lstStyle/>
          <a:p>
            <a:pPr algn="ctr"/>
            <a:r>
              <a:rPr sz="1300" dirty="0">
                <a:solidFill>
                  <a:srgbClr val="F0DEB8"/>
                </a:solidFill>
                <a:latin typeface="Segoe UI"/>
              </a:rPr>
              <a:t>Données </a:t>
            </a:r>
            <a:r>
              <a:rPr sz="1300" dirty="0" err="1">
                <a:solidFill>
                  <a:srgbClr val="F0DEB8"/>
                </a:solidFill>
                <a:latin typeface="Segoe UI"/>
              </a:rPr>
              <a:t>minimales</a:t>
            </a:r>
            <a:r>
              <a:rPr sz="1300" dirty="0">
                <a:solidFill>
                  <a:srgbClr val="F0DEB8"/>
                </a:solidFill>
                <a:latin typeface="Segoe UI"/>
              </a:rPr>
              <a:t>, droits </a:t>
            </a:r>
            <a:r>
              <a:rPr sz="1300" dirty="0" err="1">
                <a:solidFill>
                  <a:srgbClr val="F0DEB8"/>
                </a:solidFill>
                <a:latin typeface="Segoe UI"/>
              </a:rPr>
              <a:t>d'accès</a:t>
            </a:r>
            <a:r>
              <a:rPr sz="1300" dirty="0">
                <a:solidFill>
                  <a:srgbClr val="F0DEB8"/>
                </a:solidFill>
                <a:latin typeface="Segoe UI"/>
              </a:rPr>
              <a:t> et de suppression</a:t>
            </a:r>
            <a:r>
              <a:rPr lang="en-US" sz="1300" dirty="0">
                <a:solidFill>
                  <a:srgbClr val="F0DEB8"/>
                </a:solidFill>
                <a:latin typeface="Segoe UI"/>
              </a:rPr>
              <a:t>, Ex : </a:t>
            </a:r>
            <a:r>
              <a:rPr lang="en-US" sz="1300" dirty="0" err="1">
                <a:solidFill>
                  <a:srgbClr val="F0DEB8"/>
                </a:solidFill>
                <a:latin typeface="Segoe UI"/>
              </a:rPr>
              <a:t>Supprimer</a:t>
            </a:r>
            <a:r>
              <a:rPr lang="en-US" sz="1300" dirty="0">
                <a:solidFill>
                  <a:srgbClr val="F0DEB8"/>
                </a:solidFill>
                <a:latin typeface="Segoe UI"/>
              </a:rPr>
              <a:t> un </a:t>
            </a:r>
            <a:r>
              <a:rPr lang="en-US" sz="1300" dirty="0" err="1">
                <a:solidFill>
                  <a:srgbClr val="F0DEB8"/>
                </a:solidFill>
                <a:latin typeface="Segoe UI"/>
              </a:rPr>
              <a:t>utilisateur</a:t>
            </a:r>
            <a:r>
              <a:rPr lang="en-US" sz="1300" dirty="0">
                <a:solidFill>
                  <a:srgbClr val="F0DEB8"/>
                </a:solidFill>
                <a:latin typeface="Segoe UI"/>
              </a:rPr>
              <a:t> </a:t>
            </a:r>
            <a:r>
              <a:rPr lang="en-US" sz="1300" dirty="0" err="1">
                <a:solidFill>
                  <a:srgbClr val="F0DEB8"/>
                </a:solidFill>
                <a:latin typeface="Segoe UI"/>
              </a:rPr>
              <a:t>supprime</a:t>
            </a:r>
            <a:r>
              <a:rPr lang="en-US" sz="1300" dirty="0">
                <a:solidFill>
                  <a:srgbClr val="F0DEB8"/>
                </a:solidFill>
                <a:latin typeface="Segoe UI"/>
              </a:rPr>
              <a:t> </a:t>
            </a:r>
            <a:r>
              <a:rPr lang="en-US" sz="1300" dirty="0" err="1">
                <a:solidFill>
                  <a:srgbClr val="F0DEB8"/>
                </a:solidFill>
                <a:latin typeface="Segoe UI"/>
              </a:rPr>
              <a:t>en</a:t>
            </a:r>
            <a:r>
              <a:rPr lang="en-US" sz="1300" dirty="0">
                <a:solidFill>
                  <a:srgbClr val="F0DEB8"/>
                </a:solidFill>
                <a:latin typeface="Segoe UI"/>
              </a:rPr>
              <a:t> cascade </a:t>
            </a:r>
            <a:r>
              <a:rPr lang="en-US" sz="1300" dirty="0" err="1">
                <a:solidFill>
                  <a:srgbClr val="F0DEB8"/>
                </a:solidFill>
                <a:latin typeface="Segoe UI"/>
              </a:rPr>
              <a:t>ses</a:t>
            </a:r>
            <a:r>
              <a:rPr lang="en-US" sz="1300" dirty="0">
                <a:solidFill>
                  <a:srgbClr val="F0DEB8"/>
                </a:solidFill>
                <a:latin typeface="Segoe UI"/>
              </a:rPr>
              <a:t> messages</a:t>
            </a:r>
            <a:endParaRPr sz="1300" dirty="0">
              <a:solidFill>
                <a:srgbClr val="F0DEB8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Zoom · Protection CSRF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0078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CB2E62"/>
                </a:solidFill>
                <a:latin typeface="Consolas"/>
              </a:rPr>
              <a:t>AppController.php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6400800" cy="2743200"/>
          </a:xfrm>
          <a:prstGeom prst="roundRect">
            <a:avLst>
              <a:gd name="adj" fmla="val 4000"/>
            </a:avLst>
          </a:prstGeom>
          <a:solidFill>
            <a:srgbClr val="0D0D0D"/>
          </a:solidFill>
          <a:ln w="12700">
            <a:solidFill>
              <a:srgbClr val="3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9144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8A7E60"/>
                </a:solidFill>
                <a:latin typeface="Consolas"/>
              </a:rPr>
              <a:t>// GET /app/me — le jeton CSRF est exposé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une</a:t>
            </a:r>
            <a:r>
              <a:rPr sz="1100" dirty="0">
                <a:solidFill>
                  <a:srgbClr val="8A7E6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seule</a:t>
            </a:r>
            <a:r>
              <a:rPr sz="1100" dirty="0">
                <a:solidFill>
                  <a:srgbClr val="8A7E6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fois</a:t>
            </a:r>
            <a:endParaRPr lang="en-US" sz="1100" dirty="0" err="1">
              <a:solidFill>
                <a:srgbClr val="8A7E60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CE6D5"/>
                </a:solidFill>
                <a:latin typeface="Consolas"/>
              </a:rPr>
              <a:t>"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csrfToken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" =&gt; $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csrfTokenManager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-&gt;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getToken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('app')-&gt;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getValue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()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CE6D5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8A7E60"/>
                </a:solidFill>
                <a:latin typeface="Consolas"/>
              </a:rPr>
              <a:t>//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Chaque</a:t>
            </a:r>
            <a:r>
              <a:rPr sz="1100" dirty="0">
                <a:solidFill>
                  <a:srgbClr val="8A7E6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requête</a:t>
            </a:r>
            <a:r>
              <a:rPr sz="1100" dirty="0">
                <a:solidFill>
                  <a:srgbClr val="8A7E60"/>
                </a:solidFill>
                <a:latin typeface="Consolas"/>
              </a:rPr>
              <a:t> POST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mutante</a:t>
            </a:r>
            <a:r>
              <a:rPr sz="1100" dirty="0">
                <a:solidFill>
                  <a:srgbClr val="8A7E6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revalide</a:t>
            </a:r>
            <a:r>
              <a:rPr sz="1100" dirty="0">
                <a:solidFill>
                  <a:srgbClr val="8A7E6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ce</a:t>
            </a:r>
            <a:r>
              <a:rPr sz="1100" dirty="0">
                <a:solidFill>
                  <a:srgbClr val="8A7E60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8A7E60"/>
                </a:solidFill>
                <a:latin typeface="Consolas"/>
              </a:rPr>
              <a:t>même</a:t>
            </a:r>
            <a:r>
              <a:rPr sz="1100" dirty="0">
                <a:solidFill>
                  <a:srgbClr val="8A7E60"/>
                </a:solidFill>
                <a:latin typeface="Consolas"/>
              </a:rPr>
              <a:t> jeton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dirty="0">
                <a:solidFill>
                  <a:srgbClr val="ECE6D5"/>
                </a:solidFill>
                <a:latin typeface="Consolas"/>
              </a:rPr>
              <a:t>if (!$this-&gt;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isCsrfTokenValid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('app',</a:t>
            </a:r>
          </a:p>
          <a:p>
            <a:r>
              <a:rPr sz="1100" dirty="0">
                <a:solidFill>
                  <a:srgbClr val="ECE6D5"/>
                </a:solidFill>
                <a:latin typeface="Consolas"/>
              </a:rPr>
              <a:t>  </a:t>
            </a:r>
            <a:r>
              <a:rPr lang="en-US" sz="1100" dirty="0">
                <a:solidFill>
                  <a:srgbClr val="ECE6D5"/>
                </a:solidFill>
                <a:latin typeface="Consolas"/>
              </a:rPr>
              <a:t> 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      </a:t>
            </a:r>
            <a:r>
              <a:rPr lang="en-US" sz="1100" dirty="0">
                <a:solidFill>
                  <a:srgbClr val="ECE6D5"/>
                </a:solidFill>
                <a:latin typeface="Consolas"/>
              </a:rPr>
              <a:t> 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$request-&gt;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getPayload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()-&gt;get('token'))) {</a:t>
            </a:r>
          </a:p>
          <a:p>
            <a:r>
              <a:rPr sz="1100" dirty="0">
                <a:solidFill>
                  <a:srgbClr val="ECE6D5"/>
                </a:solidFill>
                <a:latin typeface="Consolas"/>
              </a:rPr>
              <a:t>   </a:t>
            </a:r>
            <a:r>
              <a:rPr lang="en-US" sz="1100" dirty="0">
                <a:solidFill>
                  <a:srgbClr val="ECE6D5"/>
                </a:solidFill>
                <a:latin typeface="Consolas"/>
              </a:rPr>
              <a:t>  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 return new 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JsonResponse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(["error" =&gt; "Token </a:t>
            </a:r>
            <a:r>
              <a:rPr sz="1100" dirty="0" err="1">
                <a:solidFill>
                  <a:srgbClr val="ECE6D5"/>
                </a:solidFill>
                <a:latin typeface="Consolas"/>
              </a:rPr>
              <a:t>invalide</a:t>
            </a:r>
            <a:r>
              <a:rPr sz="1100" dirty="0">
                <a:solidFill>
                  <a:srgbClr val="ECE6D5"/>
                </a:solidFill>
                <a:latin typeface="Consolas"/>
              </a:rPr>
              <a:t>"], 403);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ECE6D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011680"/>
            <a:ext cx="4206240" cy="3840480"/>
          </a:xfrm>
          <a:prstGeom prst="rect">
            <a:avLst/>
          </a:prstGeom>
          <a:noFill/>
        </p:spPr>
        <p:txBody>
          <a:bodyPr wrap="square" lIns="0" tIns="0" rIns="0" bIns="45720" anchor="t">
            <a:no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Pages Twig : protection CSRF native de Symfony.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3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SPA React : un jeton « app »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dédié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,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récupéré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une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fois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via</a:t>
            </a:r>
            <a:r>
              <a:rPr lang="en-US" sz="1350" dirty="0">
                <a:solidFill>
                  <a:srgbClr val="F0DEB8"/>
                </a:solidFill>
                <a:latin typeface="Segoe UI"/>
              </a:rPr>
              <a:t> </a:t>
            </a:r>
            <a:r>
              <a:rPr lang="en-US" sz="1350" dirty="0" err="1">
                <a:solidFill>
                  <a:srgbClr val="F0DEB8"/>
                </a:solidFill>
                <a:latin typeface="Segoe UI"/>
              </a:rPr>
              <a:t>l'endpoint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/app/me,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renvoyé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sur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tous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les POST.</a:t>
            </a:r>
            <a:endParaRPr sz="1350" dirty="0">
              <a:solidFill>
                <a:srgbClr val="F0DEB8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3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WebSocket : pas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besoin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de CSRF — on ne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peut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pas forger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une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connexion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WS inter-site, et le cookie est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en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SameSite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=strict.</a:t>
            </a:r>
            <a:endParaRPr sz="1350" dirty="0">
              <a:solidFill>
                <a:srgbClr val="F0DEB8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lang="en-US" sz="1400" b="1" dirty="0">
                <a:solidFill>
                  <a:srgbClr val="CB2E62"/>
                </a:solidFill>
                <a:latin typeface="Segoe UI"/>
                <a:cs typeface="Segoe UI"/>
              </a:rPr>
              <a:t>▸</a:t>
            </a:r>
            <a:r>
              <a:rPr lang="en-US" sz="1400" dirty="0" err="1">
                <a:solidFill>
                  <a:srgbClr val="EFDDB7"/>
                </a:solidFill>
                <a:latin typeface="Segoe UI"/>
                <a:cs typeface="Segoe UI"/>
              </a:rPr>
              <a:t>Exemple</a:t>
            </a:r>
            <a:r>
              <a:rPr lang="en-US" sz="1400" dirty="0">
                <a:solidFill>
                  <a:srgbClr val="EFDDB7"/>
                </a:solidFill>
                <a:latin typeface="Segoe UI"/>
                <a:cs typeface="Segoe UI"/>
              </a:rPr>
              <a:t> dans la </a:t>
            </a:r>
            <a:r>
              <a:rPr lang="en-US" sz="1400" dirty="0" err="1">
                <a:solidFill>
                  <a:srgbClr val="EFDDB7"/>
                </a:solidFill>
                <a:latin typeface="Segoe UI"/>
                <a:cs typeface="Segoe UI"/>
              </a:rPr>
              <a:t>fonction</a:t>
            </a:r>
            <a:r>
              <a:rPr lang="en-US" sz="1400" dirty="0">
                <a:solidFill>
                  <a:srgbClr val="EFDDB7"/>
                </a:solidFill>
                <a:latin typeface="Segoe UI"/>
                <a:cs typeface="Segoe UI"/>
              </a:rPr>
              <a:t> de modification de </a:t>
            </a:r>
            <a:r>
              <a:rPr lang="en-US" sz="1400" dirty="0" err="1">
                <a:solidFill>
                  <a:srgbClr val="EFDDB7"/>
                </a:solidFill>
                <a:latin typeface="Segoe UI"/>
                <a:cs typeface="Segoe UI"/>
              </a:rPr>
              <a:t>serveur</a:t>
            </a:r>
            <a:endParaRPr lang="en-US" dirty="0" err="1">
              <a:solidFill>
                <a:srgbClr val="EFDDB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SÉCURITÉ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Zoom · Permissions par rôle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0078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CB2E62"/>
                </a:solidFill>
                <a:latin typeface="Consolas"/>
              </a:rPr>
              <a:t>PermissionManager.php  (src/Service)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6400800" cy="3794760"/>
          </a:xfrm>
          <a:prstGeom prst="roundRect">
            <a:avLst>
              <a:gd name="adj" fmla="val 4000"/>
            </a:avLst>
          </a:prstGeom>
          <a:solidFill>
            <a:srgbClr val="0D0D0D"/>
          </a:solidFill>
          <a:ln w="12700">
            <a:solidFill>
              <a:srgbClr val="3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9144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8A7E60"/>
                </a:solidFill>
                <a:latin typeface="Consolas"/>
              </a:rPr>
              <a:t>// </a:t>
            </a:r>
            <a:r>
              <a:rPr sz="1050" dirty="0" err="1">
                <a:solidFill>
                  <a:srgbClr val="8A7E60"/>
                </a:solidFill>
                <a:latin typeface="Consolas"/>
              </a:rPr>
              <a:t>Règle</a:t>
            </a:r>
            <a:r>
              <a:rPr sz="1050" dirty="0">
                <a:solidFill>
                  <a:srgbClr val="8A7E60"/>
                </a:solidFill>
                <a:latin typeface="Consolas"/>
              </a:rPr>
              <a:t> métier </a:t>
            </a:r>
            <a:r>
              <a:rPr sz="1050" dirty="0" err="1">
                <a:solidFill>
                  <a:srgbClr val="8A7E60"/>
                </a:solidFill>
                <a:latin typeface="Consolas"/>
              </a:rPr>
              <a:t>centralisée</a:t>
            </a:r>
            <a:r>
              <a:rPr sz="1050" dirty="0">
                <a:solidFill>
                  <a:srgbClr val="8A7E60"/>
                </a:solidFill>
                <a:latin typeface="Consolas"/>
              </a:rPr>
              <a:t> — </a:t>
            </a:r>
            <a:r>
              <a:rPr sz="1050" dirty="0" err="1">
                <a:solidFill>
                  <a:srgbClr val="8A7E60"/>
                </a:solidFill>
                <a:latin typeface="Consolas"/>
              </a:rPr>
              <a:t>exécutée</a:t>
            </a:r>
            <a:r>
              <a:rPr sz="1050" dirty="0">
                <a:solidFill>
                  <a:srgbClr val="8A7E60"/>
                </a:solidFill>
                <a:latin typeface="Consolas"/>
              </a:rPr>
              <a:t> CÔTÉ SERVEUR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ECE6D5"/>
                </a:solidFill>
                <a:latin typeface="Consolas"/>
              </a:rPr>
              <a:t>public function </a:t>
            </a:r>
            <a:r>
              <a:rPr sz="1050" dirty="0" err="1">
                <a:solidFill>
                  <a:srgbClr val="ECE6D5"/>
                </a:solidFill>
                <a:latin typeface="Consolas"/>
              </a:rPr>
              <a:t>canAccessChannel</a:t>
            </a:r>
            <a:r>
              <a:rPr sz="1050" dirty="0">
                <a:solidFill>
                  <a:srgbClr val="ECE6D5"/>
                </a:solidFill>
                <a:latin typeface="Consolas"/>
              </a:rPr>
              <a:t>(</a:t>
            </a:r>
          </a:p>
          <a:p>
            <a:r>
              <a:rPr sz="1050" dirty="0">
                <a:solidFill>
                  <a:srgbClr val="ECE6D5"/>
                </a:solidFill>
                <a:latin typeface="Consolas"/>
              </a:rPr>
              <a:t>  </a:t>
            </a:r>
            <a:r>
              <a:rPr lang="en-US" sz="1050" dirty="0">
                <a:solidFill>
                  <a:srgbClr val="ECE6D5"/>
                </a:solidFill>
                <a:latin typeface="Consolas"/>
              </a:rPr>
              <a:t> </a:t>
            </a:r>
            <a:r>
              <a:rPr sz="1050" dirty="0">
                <a:solidFill>
                  <a:srgbClr val="ECE6D5"/>
                </a:solidFill>
                <a:latin typeface="Consolas"/>
              </a:rPr>
              <a:t>  $</a:t>
            </a:r>
            <a:r>
              <a:rPr sz="1050" dirty="0" err="1">
                <a:solidFill>
                  <a:srgbClr val="ECE6D5"/>
                </a:solidFill>
                <a:latin typeface="Consolas"/>
              </a:rPr>
              <a:t>channelId</a:t>
            </a:r>
            <a:r>
              <a:rPr sz="1050" dirty="0">
                <a:solidFill>
                  <a:srgbClr val="ECE6D5"/>
                </a:solidFill>
                <a:latin typeface="Consolas"/>
              </a:rPr>
              <a:t>, $</a:t>
            </a:r>
            <a:r>
              <a:rPr sz="1050" dirty="0" err="1">
                <a:solidFill>
                  <a:srgbClr val="ECE6D5"/>
                </a:solidFill>
                <a:latin typeface="Consolas"/>
              </a:rPr>
              <a:t>userId</a:t>
            </a:r>
            <a:r>
              <a:rPr sz="1050" dirty="0">
                <a:solidFill>
                  <a:srgbClr val="ECE6D5"/>
                </a:solidFill>
                <a:latin typeface="Consolas"/>
              </a:rPr>
              <a:t>, array $roles, $perm = Read): bool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    foreach ($roles as $role) {</a:t>
            </a:r>
          </a:p>
          <a:p>
            <a:r>
              <a:rPr sz="1050" dirty="0">
                <a:solidFill>
                  <a:srgbClr val="ECE6D5"/>
                </a:solidFill>
                <a:latin typeface="Consolas"/>
              </a:rPr>
              <a:t>        $member = </a:t>
            </a:r>
            <a:r>
              <a:rPr sz="1050" dirty="0" err="1">
                <a:solidFill>
                  <a:srgbClr val="ECE6D5"/>
                </a:solidFill>
                <a:latin typeface="Consolas"/>
              </a:rPr>
              <a:t>in_array</a:t>
            </a:r>
            <a:r>
              <a:rPr sz="1050" dirty="0">
                <a:solidFill>
                  <a:srgbClr val="ECE6D5"/>
                </a:solidFill>
                <a:latin typeface="Consolas"/>
              </a:rPr>
              <a:t>($</a:t>
            </a:r>
            <a:r>
              <a:rPr sz="1050" dirty="0" err="1">
                <a:solidFill>
                  <a:srgbClr val="ECE6D5"/>
                </a:solidFill>
                <a:latin typeface="Consolas"/>
              </a:rPr>
              <a:t>userId</a:t>
            </a:r>
            <a:r>
              <a:rPr sz="1050" dirty="0">
                <a:solidFill>
                  <a:srgbClr val="ECE6D5"/>
                </a:solidFill>
                <a:latin typeface="Consolas"/>
              </a:rPr>
              <a:t>, $role["members"])</a:t>
            </a:r>
          </a:p>
          <a:p>
            <a:r>
              <a:rPr sz="1050" dirty="0">
                <a:solidFill>
                  <a:srgbClr val="ECE6D5"/>
                </a:solidFill>
                <a:latin typeface="Consolas"/>
              </a:rPr>
              <a:t>  </a:t>
            </a:r>
            <a:r>
              <a:rPr lang="en-US" sz="1050" dirty="0">
                <a:solidFill>
                  <a:srgbClr val="ECE6D5"/>
                </a:solidFill>
                <a:latin typeface="Consolas"/>
              </a:rPr>
              <a:t>             || </a:t>
            </a:r>
            <a:r>
              <a:rPr lang="en-US" sz="1050" dirty="0" err="1">
                <a:solidFill>
                  <a:srgbClr val="ECE6D5"/>
                </a:solidFill>
                <a:latin typeface="Consolas"/>
              </a:rPr>
              <a:t>in_array</a:t>
            </a:r>
            <a:r>
              <a:rPr lang="en-US" sz="1050" dirty="0">
                <a:solidFill>
                  <a:srgbClr val="ECE6D5"/>
                </a:solidFill>
                <a:latin typeface="Consolas"/>
              </a:rPr>
              <a:t>("*", $role["members"]);</a:t>
            </a:r>
            <a:endParaRPr sz="1050" dirty="0">
              <a:solidFill>
                <a:srgbClr val="ECE6D5"/>
              </a:solidFill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        if ($member &amp;&amp; (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ECE6D5"/>
                </a:solidFill>
                <a:latin typeface="Consolas"/>
              </a:rPr>
              <a:t>            </a:t>
            </a:r>
            <a:r>
              <a:rPr sz="1050" dirty="0" err="1">
                <a:solidFill>
                  <a:srgbClr val="ECE6D5"/>
                </a:solidFill>
                <a:latin typeface="Consolas"/>
              </a:rPr>
              <a:t>in_array</a:t>
            </a:r>
            <a:r>
              <a:rPr sz="1050" dirty="0">
                <a:solidFill>
                  <a:srgbClr val="ECE6D5"/>
                </a:solidFill>
                <a:latin typeface="Consolas"/>
              </a:rPr>
              <a:t>("*", $role["permissions"]) ||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ECE6D5"/>
                </a:solidFill>
                <a:latin typeface="Consolas"/>
              </a:rPr>
              <a:t>            </a:t>
            </a:r>
            <a:r>
              <a:rPr sz="1050" dirty="0" err="1">
                <a:solidFill>
                  <a:srgbClr val="ECE6D5"/>
                </a:solidFill>
                <a:latin typeface="Consolas"/>
              </a:rPr>
              <a:t>in_array</a:t>
            </a:r>
            <a:r>
              <a:rPr sz="1050" dirty="0">
                <a:solidFill>
                  <a:srgbClr val="ECE6D5"/>
                </a:solidFill>
                <a:latin typeface="Consolas"/>
              </a:rPr>
              <a:t>($perm-&gt;value,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dirty="0">
                <a:solidFill>
                  <a:srgbClr val="ECE6D5"/>
                </a:solidFill>
                <a:latin typeface="Consolas"/>
              </a:rPr>
              <a:t>                $role["permissions"][$</a:t>
            </a:r>
            <a:r>
              <a:rPr sz="1050" dirty="0" err="1">
                <a:solidFill>
                  <a:srgbClr val="ECE6D5"/>
                </a:solidFill>
                <a:latin typeface="Consolas"/>
              </a:rPr>
              <a:t>channelId</a:t>
            </a:r>
            <a:r>
              <a:rPr sz="1050" dirty="0">
                <a:solidFill>
                  <a:srgbClr val="ECE6D5"/>
                </a:solidFill>
                <a:latin typeface="Consolas"/>
              </a:rPr>
              <a:t>] ?? [])))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            return true;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    return false;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011680"/>
            <a:ext cx="4206240" cy="3840480"/>
          </a:xfrm>
          <a:prstGeom prst="rect">
            <a:avLst/>
          </a:prstGeom>
          <a:noFill/>
        </p:spPr>
        <p:txBody>
          <a:bodyPr wrap="square" lIns="0" tIns="0" rIns="0" bIns="45720" anchor="t">
            <a:no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Rôles</a:t>
            </a:r>
            <a:r>
              <a:rPr lang="en-US" sz="1350" dirty="0">
                <a:solidFill>
                  <a:srgbClr val="F0DEB8"/>
                </a:solidFill>
                <a:latin typeface="Segoe UI"/>
              </a:rPr>
              <a:t>/Permissions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d'un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serveur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stockés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en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JSON :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membres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+ permissions par canal.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lang="en-US" sz="1400" b="1" dirty="0">
                <a:solidFill>
                  <a:srgbClr val="CB2E62"/>
                </a:solidFill>
                <a:latin typeface="Segoe UI"/>
                <a:cs typeface="Segoe UI"/>
              </a:rPr>
              <a:t>▸ </a:t>
            </a:r>
            <a:r>
              <a:rPr lang="en-US" sz="1400" dirty="0">
                <a:solidFill>
                  <a:srgbClr val="F0DEB8"/>
                </a:solidFill>
                <a:latin typeface="Segoe UI"/>
                <a:cs typeface="Segoe UI"/>
              </a:rPr>
              <a:t> Si </a:t>
            </a:r>
            <a:r>
              <a:rPr lang="en-US" sz="1400" dirty="0" err="1">
                <a:solidFill>
                  <a:srgbClr val="F0DEB8"/>
                </a:solidFill>
                <a:latin typeface="Segoe UI"/>
                <a:cs typeface="Segoe UI"/>
              </a:rPr>
              <a:t>l'ID</a:t>
            </a:r>
            <a:r>
              <a:rPr lang="en-US" sz="1400" dirty="0">
                <a:solidFill>
                  <a:srgbClr val="F0DEB8"/>
                </a:solidFill>
                <a:latin typeface="Segoe UI"/>
                <a:cs typeface="Segoe UI"/>
              </a:rPr>
              <a:t> d'un </a:t>
            </a:r>
            <a:r>
              <a:rPr lang="en-US" sz="1400" dirty="0" err="1">
                <a:solidFill>
                  <a:srgbClr val="F0DEB8"/>
                </a:solidFill>
                <a:latin typeface="Segoe UI"/>
                <a:cs typeface="Segoe UI"/>
              </a:rPr>
              <a:t>utilisateur</a:t>
            </a:r>
            <a:r>
              <a:rPr lang="en-US" sz="1400" dirty="0">
                <a:solidFill>
                  <a:srgbClr val="F0DEB8"/>
                </a:solidFill>
                <a:latin typeface="Segoe UI"/>
                <a:cs typeface="Segoe UI"/>
              </a:rPr>
              <a:t> est </a:t>
            </a:r>
            <a:r>
              <a:rPr lang="en-US" sz="1400" dirty="0" err="1">
                <a:solidFill>
                  <a:srgbClr val="F0DEB8"/>
                </a:solidFill>
                <a:latin typeface="Segoe UI"/>
                <a:cs typeface="Segoe UI"/>
              </a:rPr>
              <a:t>enregistré</a:t>
            </a:r>
            <a:r>
              <a:rPr lang="en-US" sz="1400" dirty="0">
                <a:solidFill>
                  <a:srgbClr val="F0DEB8"/>
                </a:solidFill>
                <a:latin typeface="Segoe UI"/>
                <a:cs typeface="Segoe UI"/>
              </a:rPr>
              <a:t> sous </a:t>
            </a:r>
            <a:r>
              <a:rPr lang="en-US" sz="1400" dirty="0" err="1">
                <a:solidFill>
                  <a:srgbClr val="F0DEB8"/>
                </a:solidFill>
                <a:latin typeface="Segoe UI"/>
                <a:cs typeface="Segoe UI"/>
              </a:rPr>
              <a:t>une</a:t>
            </a:r>
            <a:r>
              <a:rPr lang="en-US" sz="1400" dirty="0">
                <a:solidFill>
                  <a:srgbClr val="F0DEB8"/>
                </a:solidFill>
                <a:latin typeface="Segoe UI"/>
                <a:cs typeface="Segoe UI"/>
              </a:rPr>
              <a:t> permission, il </a:t>
            </a:r>
            <a:r>
              <a:rPr lang="en-US" sz="1400" dirty="0" err="1">
                <a:solidFill>
                  <a:srgbClr val="F0DEB8"/>
                </a:solidFill>
                <a:latin typeface="Segoe UI"/>
                <a:cs typeface="Segoe UI"/>
              </a:rPr>
              <a:t>l'obtient</a:t>
            </a:r>
            <a:r>
              <a:rPr lang="en-US" sz="1400" dirty="0">
                <a:solidFill>
                  <a:srgbClr val="F0DEB8"/>
                </a:solidFill>
                <a:latin typeface="Segoe UI"/>
                <a:cs typeface="Segoe UI"/>
              </a:rPr>
              <a:t>.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« * » = joker (admin,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ou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@everyone).</a:t>
            </a:r>
            <a:endParaRPr sz="1350" dirty="0">
              <a:solidFill>
                <a:srgbClr val="F0DEB8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Service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réutilisable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→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règle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impossible à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contourner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côté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client.</a:t>
            </a:r>
            <a:endParaRPr sz="1350" dirty="0">
              <a:solidFill>
                <a:srgbClr val="F0DEB8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Côté React, le hook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usePermission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masque les boutons</a:t>
            </a:r>
            <a:r>
              <a:rPr lang="en-US" sz="1350" dirty="0">
                <a:solidFill>
                  <a:srgbClr val="F0DEB8"/>
                </a:solidFill>
                <a:latin typeface="Segoe UI"/>
              </a:rPr>
              <a:t> admin 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pour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l'UX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, jamais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comme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sécurité.</a:t>
            </a:r>
            <a:endParaRPr sz="1350" dirty="0">
              <a:solidFill>
                <a:srgbClr val="F0DEB8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SÉCURITÉ &amp; PERF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Zoom · Données : injections, cloisonnement, N+1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00784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1" i="0">
                <a:solidFill>
                  <a:srgbClr val="CB2E62"/>
                </a:solidFill>
                <a:latin typeface="Consolas"/>
              </a:rPr>
              <a:t>MessageRepository.php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6400800" cy="3017520"/>
          </a:xfrm>
          <a:prstGeom prst="roundRect">
            <a:avLst>
              <a:gd name="adj" fmla="val 4000"/>
            </a:avLst>
          </a:prstGeom>
          <a:solidFill>
            <a:srgbClr val="0D0D0D"/>
          </a:solidFill>
          <a:ln w="12700">
            <a:solidFill>
              <a:srgbClr val="3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09728" bIns="91440" rtlCol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8A7E60"/>
                </a:solidFill>
                <a:latin typeface="Consolas"/>
              </a:rPr>
              <a:t>// Requête préparée + une seule requête (jointures) au lieu de N+1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return $this-&gt;createQueryBuilder("message")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    -&gt;select("message.id, message.content, message.timestamp")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    -&gt;innerJoin("message.user", "user")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    -&gt;addSelect("user.pseudo AS authorPseudo")  // évite le N+1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    -&gt;where("message.channel = :channel")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    -&gt;setParameter("channel", $channel)         // échappé par Doctrine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    -&gt;setMaxResults(50)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>
                <a:solidFill>
                  <a:srgbClr val="ECE6D5"/>
                </a:solidFill>
                <a:latin typeface="Consolas"/>
              </a:rPr>
              <a:t>    -&gt;getQuery()-&gt;getArrayResult();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011680"/>
            <a:ext cx="4206240" cy="3840480"/>
          </a:xfrm>
          <a:prstGeom prst="rect">
            <a:avLst/>
          </a:prstGeom>
          <a:noFill/>
        </p:spPr>
        <p:txBody>
          <a:bodyPr wrap="square" lIns="0" tIns="0" rIns="0" bIns="45720" anchor="t">
            <a:no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setParameter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→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requêtes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préparées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: protection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contre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les injections SQL.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L'id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utilisateur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vient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de la session (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infalsifiable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), pas du client.</a:t>
            </a:r>
            <a:endParaRPr sz="1350" dirty="0">
              <a:solidFill>
                <a:srgbClr val="F0DEB8"/>
              </a:solidFill>
              <a:latin typeface="Segoe UI"/>
              <a:cs typeface="Segoe UI"/>
            </a:endParaRP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Perf :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une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seule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requête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avec jointure au lieu de 50 (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problème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N+1</a:t>
            </a:r>
            <a:r>
              <a:rPr lang="en-US" sz="1350" dirty="0">
                <a:solidFill>
                  <a:srgbClr val="F0DEB8"/>
                </a:solidFill>
                <a:latin typeface="Segoe UI"/>
              </a:rPr>
              <a:t>), </a:t>
            </a:r>
            <a:r>
              <a:rPr lang="en-US" sz="1350" dirty="0" err="1">
                <a:solidFill>
                  <a:srgbClr val="F0DEB8"/>
                </a:solidFill>
                <a:latin typeface="Segoe UI"/>
              </a:rPr>
              <a:t>ce</a:t>
            </a:r>
            <a:r>
              <a:rPr lang="en-US" sz="1350" dirty="0">
                <a:solidFill>
                  <a:srgbClr val="F0DEB8"/>
                </a:solidFill>
                <a:latin typeface="Segoe UI"/>
              </a:rPr>
              <a:t> qui </a:t>
            </a:r>
            <a:r>
              <a:rPr lang="en-US" sz="1350" dirty="0" err="1">
                <a:solidFill>
                  <a:srgbClr val="F0DEB8"/>
                </a:solidFill>
                <a:latin typeface="Segoe UI"/>
              </a:rPr>
              <a:t>évite</a:t>
            </a:r>
            <a:r>
              <a:rPr lang="en-US" sz="1350" dirty="0">
                <a:solidFill>
                  <a:srgbClr val="F0DEB8"/>
                </a:solidFill>
                <a:latin typeface="Segoe UI"/>
              </a:rPr>
              <a:t> de multiplier les </a:t>
            </a:r>
            <a:r>
              <a:rPr lang="en-US" sz="1350" dirty="0" err="1">
                <a:solidFill>
                  <a:srgbClr val="F0DEB8"/>
                </a:solidFill>
                <a:latin typeface="Segoe UI"/>
              </a:rPr>
              <a:t>requêtes</a:t>
            </a:r>
            <a:r>
              <a:rPr lang="en-US" sz="1350" dirty="0">
                <a:solidFill>
                  <a:srgbClr val="F0DEB8"/>
                </a:solidFill>
                <a:latin typeface="Segoe UI"/>
              </a:rPr>
              <a:t>.</a:t>
            </a:r>
            <a:endParaRPr sz="1350" dirty="0">
              <a:solidFill>
                <a:srgbClr val="F0DEB8"/>
              </a:solidFill>
              <a:latin typeface="Segoe UI"/>
            </a:endParaRP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 dirty="0">
                <a:solidFill>
                  <a:srgbClr val="CB2E62"/>
                </a:solidFill>
                <a:latin typeface="Segoe UI"/>
              </a:rPr>
              <a:t>▸  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On ne charge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que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les 50 </a:t>
            </a:r>
            <a:r>
              <a:rPr sz="1350" dirty="0" err="1">
                <a:solidFill>
                  <a:srgbClr val="F0DEB8"/>
                </a:solidFill>
                <a:latin typeface="Segoe UI"/>
              </a:rPr>
              <a:t>derniers</a:t>
            </a:r>
            <a:r>
              <a:rPr sz="1350" dirty="0">
                <a:solidFill>
                  <a:srgbClr val="F0DEB8"/>
                </a:solidFill>
                <a:latin typeface="Segoe UI"/>
              </a:rPr>
              <a:t> messages, pas tout le canal.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BASE DE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Modèle Conceptuel (MCD)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CD v2 Harmonie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415" y="1600200"/>
            <a:ext cx="5936209" cy="44805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92415" y="1600200"/>
            <a:ext cx="5936209" cy="4480560"/>
          </a:xfrm>
          <a:prstGeom prst="rect">
            <a:avLst/>
          </a:prstGeom>
          <a:noFill/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828800"/>
            <a:ext cx="3749039" cy="4023360"/>
          </a:xfrm>
          <a:prstGeom prst="rect">
            <a:avLst/>
          </a:prstGeom>
          <a:noFill/>
        </p:spPr>
        <p:txBody>
          <a:bodyPr wrap="square" lIns="0" tIns="0" rIns="0">
            <a:no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7 entités : User, Server, Channel, Message, Theme, ServerInvitation.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Un serveur → plusieurs canaux ; un canal → plusieurs messages.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Un message a un auteur et un canal.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User ⟷ Server : plusieurs-à-plusieurs.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Modélisé avant d'écrire la moindre ligne de code.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BASE DE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Modèle Logique (MLD) &amp; règles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LD v2 Harmonie.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51" y="1554480"/>
            <a:ext cx="6263098" cy="3657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83251" y="1554480"/>
            <a:ext cx="6263098" cy="3657600"/>
          </a:xfrm>
          <a:prstGeom prst="rect">
            <a:avLst/>
          </a:prstGeom>
          <a:noFill/>
          <a:ln w="15875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0" y="1737360"/>
            <a:ext cx="3840480" cy="4206240"/>
          </a:xfrm>
          <a:prstGeom prst="rect">
            <a:avLst/>
          </a:prstGeom>
          <a:noFill/>
        </p:spPr>
        <p:txBody>
          <a:bodyPr wrap="square" lIns="0" tIns="0" rIns="0">
            <a:no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Chaque colonne typée ; clés primaires et étrangères.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Base normalisée ; intégrité assurée par les clés étrangères.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Suppression en cascade → aucune donnée orpheline.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Unicité : email, handle, identifiant d'invitation.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Relation N-N → table de liaison user_server (clé composite).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RETOUR D'EXPÉRIENCE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Défis techniques &amp; solutions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211A1D"/>
          </a:solidFill>
          <a:ln w="13970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CB2E62"/>
                </a:solidFill>
                <a:latin typeface="Segoe UI"/>
              </a:rPr>
              <a:t>Symfony lent sous 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4937759" cy="3200400"/>
          </a:xfrm>
          <a:prstGeom prst="rect">
            <a:avLst/>
          </a:prstGeom>
          <a:noFill/>
        </p:spPr>
        <p:txBody>
          <a:bodyPr wrap="square" lIns="0" tIns="0" r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Problème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A89D82"/>
                </a:solidFill>
                <a:latin typeface="Segoe UI"/>
              </a:rPr>
              <a:t>      –  </a:t>
            </a:r>
            <a:r>
              <a:rPr sz="1350">
                <a:solidFill>
                  <a:srgbClr val="A89D82"/>
                </a:solidFill>
                <a:latin typeface="Segoe UI"/>
              </a:rPr>
              <a:t>Démarrage interminable en développement (WSL).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Cause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A89D82"/>
                </a:solidFill>
                <a:latin typeface="Segoe UI"/>
              </a:rPr>
              <a:t>      –  </a:t>
            </a:r>
            <a:r>
              <a:rPr sz="1350">
                <a:solidFill>
                  <a:srgbClr val="A89D82"/>
                </a:solidFill>
                <a:latin typeface="Segoe UI"/>
              </a:rPr>
              <a:t>Des centaines de require dans vendor, lus à travers WSL.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Solution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A89D82"/>
                </a:solidFill>
                <a:latin typeface="Segoe UI"/>
              </a:rPr>
              <a:t>      –  </a:t>
            </a:r>
            <a:r>
              <a:rPr sz="1350">
                <a:solidFill>
                  <a:srgbClr val="A89D82"/>
                </a:solidFill>
                <a:latin typeface="Segoe UI"/>
              </a:rPr>
              <a:t>vendor sorti du volume monté et réinstallé dans le conteneur.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349240" cy="3931920"/>
          </a:xfrm>
          <a:prstGeom prst="roundRect">
            <a:avLst>
              <a:gd name="adj" fmla="val 6000"/>
            </a:avLst>
          </a:prstGeom>
          <a:solidFill>
            <a:srgbClr val="211A1D"/>
          </a:solidFill>
          <a:ln w="13970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CB2E62"/>
                </a:solidFill>
                <a:latin typeface="Segoe UI"/>
              </a:rPr>
              <a:t>Passage à React en cours de route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68296"/>
            <a:ext cx="4937759" cy="3200400"/>
          </a:xfrm>
          <a:prstGeom prst="rect">
            <a:avLst/>
          </a:prstGeom>
          <a:noFill/>
        </p:spPr>
        <p:txBody>
          <a:bodyPr wrap="square" lIns="0" tIns="0" r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Problème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A89D82"/>
                </a:solidFill>
                <a:latin typeface="Segoe UI"/>
              </a:rPr>
              <a:t>      –  </a:t>
            </a:r>
            <a:r>
              <a:rPr sz="1350">
                <a:solidFill>
                  <a:srgbClr val="A89D82"/>
                </a:solidFill>
                <a:latin typeface="Segoe UI"/>
              </a:rPr>
              <a:t>La page de chat en JS vanilla devenait dure à maintenir : trop d'états, du temps réel partout.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Décision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A89D82"/>
                </a:solidFill>
                <a:latin typeface="Segoe UI"/>
              </a:rPr>
              <a:t>      –  </a:t>
            </a:r>
            <a:r>
              <a:rPr sz="1350">
                <a:solidFill>
                  <a:srgbClr val="A89D82"/>
                </a:solidFill>
                <a:latin typeface="Segoe UI"/>
              </a:rPr>
              <a:t>Tout basculer vers React, en plein milieu du projet.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350">
                <a:solidFill>
                  <a:srgbClr val="F0DEB8"/>
                </a:solidFill>
                <a:latin typeface="Segoe UI"/>
              </a:rPr>
              <a:t>Résultat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350" b="1">
                <a:solidFill>
                  <a:srgbClr val="A89D82"/>
                </a:solidFill>
                <a:latin typeface="Segoe UI"/>
              </a:rPr>
              <a:t>      –  </a:t>
            </a:r>
            <a:r>
              <a:rPr sz="1350">
                <a:solidFill>
                  <a:srgbClr val="A89D82"/>
                </a:solidFill>
                <a:latin typeface="Segoe UI"/>
              </a:rPr>
              <a:t>Migration progressive (pont vanilla↔React, composant par composant) → une vraie SPA, code plus clair et re-render ciblé.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0" i="0">
                <a:solidFill>
                  <a:srgbClr val="A89D82"/>
                </a:solidFill>
                <a:latin typeface="Segoe UI"/>
              </a:rPr>
              <a:t>Harmonie  ·  Maël Flament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437376"/>
            <a:ext cx="4114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900" b="0" i="0">
                <a:solidFill>
                  <a:srgbClr val="A89D82"/>
                </a:solidFill>
                <a:latin typeface="Segoe U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8404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250" b="1" i="0">
                <a:solidFill>
                  <a:srgbClr val="CB2E62"/>
                </a:solidFill>
                <a:latin typeface="Segoe UI"/>
              </a:rPr>
              <a:t>QUALITÉ &amp; RIGUEUR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676656"/>
            <a:ext cx="111556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900" b="1" i="0">
                <a:solidFill>
                  <a:srgbClr val="F0DEB8"/>
                </a:solidFill>
                <a:latin typeface="Segoe UI"/>
              </a:rPr>
              <a:t>Déploiement, méthode &amp; accessibilité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35024"/>
            <a:ext cx="1554480" cy="41148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211A1D"/>
          </a:solidFill>
          <a:ln w="13970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47672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CB2E62"/>
                </a:solidFill>
                <a:latin typeface="Segoe UI"/>
              </a:rPr>
              <a:t>Docker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68296"/>
            <a:ext cx="4937759" cy="1234439"/>
          </a:xfrm>
          <a:prstGeom prst="rect">
            <a:avLst/>
          </a:prstGeom>
          <a:noFill/>
        </p:spPr>
        <p:txBody>
          <a:bodyPr wrap="square" lIns="0" tIns="0" r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250">
                <a:solidFill>
                  <a:srgbClr val="F0DEB8"/>
                </a:solidFill>
                <a:latin typeface="Segoe UI"/>
              </a:rPr>
              <a:t>2 environnements (dev / prod) via Compose.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250">
                <a:solidFill>
                  <a:srgbClr val="F0DEB8"/>
                </a:solidFill>
                <a:latin typeface="Segoe UI"/>
              </a:rPr>
              <a:t>En prod : React buildé dans l'image, BDD + migrations au 1er démarrage.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250">
                <a:solidFill>
                  <a:srgbClr val="F0DEB8"/>
                </a:solidFill>
                <a:latin typeface="Segoe UI"/>
              </a:rPr>
              <a:t>Seul le port 80 exposé ; MySQL fermé de l'extérieur.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211A1D"/>
          </a:solidFill>
          <a:ln w="13970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CB2E62"/>
                </a:solidFill>
                <a:latin typeface="Segoe UI"/>
              </a:rPr>
              <a:t>Workflow Git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68296"/>
            <a:ext cx="4937759" cy="1234439"/>
          </a:xfrm>
          <a:prstGeom prst="rect">
            <a:avLst/>
          </a:prstGeom>
          <a:noFill/>
        </p:spPr>
        <p:txBody>
          <a:bodyPr wrap="square" lIns="0" tIns="0" r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250">
                <a:solidFill>
                  <a:srgbClr val="F0DEB8"/>
                </a:solidFill>
                <a:latin typeface="Segoe UI"/>
              </a:rPr>
              <a:t>Une branche par fonctionnalité.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250">
                <a:solidFill>
                  <a:srgbClr val="F0DEB8"/>
                </a:solidFill>
                <a:latin typeface="Segoe UI"/>
              </a:rPr>
              <a:t>Validation sur « pre-prod » (test Docker), puis « main » stable.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250">
                <a:solidFill>
                  <a:srgbClr val="F0DEB8"/>
                </a:solidFill>
                <a:latin typeface="Segoe UI"/>
              </a:rPr>
              <a:t>Historique clair, pull requests.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211A1D"/>
          </a:solidFill>
          <a:ln w="13970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096511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CB2E62"/>
                </a:solidFill>
                <a:latin typeface="Segoe UI"/>
              </a:rPr>
              <a:t>Méthode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17136"/>
            <a:ext cx="4937759" cy="1234439"/>
          </a:xfrm>
          <a:prstGeom prst="rect">
            <a:avLst/>
          </a:prstGeom>
          <a:noFill/>
        </p:spPr>
        <p:txBody>
          <a:bodyPr wrap="square" lIns="0" tIns="0" r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250">
                <a:solidFill>
                  <a:srgbClr val="F0DEB8"/>
                </a:solidFill>
                <a:latin typeface="Segoe UI"/>
              </a:rPr>
              <a:t>Démarche agile, sprints d'environ 2 semaines.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250">
                <a:solidFill>
                  <a:srgbClr val="F0DEB8"/>
                </a:solidFill>
                <a:latin typeface="Segoe UI"/>
              </a:rPr>
              <a:t>8 phases, chacune livrant un incrément fonctionnel.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211A1D"/>
          </a:solidFill>
          <a:ln w="13970">
            <a:solidFill>
              <a:srgbClr val="A81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4096511"/>
            <a:ext cx="4983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1" i="0">
                <a:solidFill>
                  <a:srgbClr val="CB2E62"/>
                </a:solidFill>
                <a:latin typeface="Segoe UI"/>
              </a:rPr>
              <a:t>Accessibilité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517136"/>
            <a:ext cx="4937759" cy="1234439"/>
          </a:xfrm>
          <a:prstGeom prst="rect">
            <a:avLst/>
          </a:prstGeom>
          <a:noFill/>
        </p:spPr>
        <p:txBody>
          <a:bodyPr wrap="square" lIns="0" tIns="0" rIns="0">
            <a:no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250">
                <a:solidFill>
                  <a:srgbClr val="F0DEB8"/>
                </a:solidFill>
                <a:latin typeface="Segoe UI"/>
              </a:rPr>
              <a:t>HTML sémantique, navigation clavier, contrastes.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250">
                <a:solidFill>
                  <a:srgbClr val="F0DEB8"/>
                </a:solidFill>
                <a:latin typeface="Segoe UI"/>
              </a:rPr>
              <a:t>ARIA : onglets (tablist / tab / tabpanel), labels, alt.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250" b="1">
                <a:solidFill>
                  <a:srgbClr val="CB2E62"/>
                </a:solidFill>
                <a:latin typeface="Segoe UI"/>
              </a:rPr>
              <a:t>▸  </a:t>
            </a:r>
            <a:r>
              <a:rPr sz="1250">
                <a:solidFill>
                  <a:srgbClr val="F0DEB8"/>
                </a:solidFill>
                <a:latin typeface="Segoe UI"/>
              </a:rPr>
              <a:t>Vérifiée avec l'extension WAVE.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33172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800" b="1" i="0">
                <a:solidFill>
                  <a:srgbClr val="F0DEB8"/>
                </a:solidFill>
                <a:latin typeface="Segoe UI"/>
              </a:rPr>
              <a:t>Merci !</a:t>
            </a:r>
          </a:p>
        </p:txBody>
      </p:sp>
      <p:sp>
        <p:nvSpPr>
          <p:cNvPr id="5" name="Rectangle 4"/>
          <p:cNvSpPr/>
          <p:nvPr/>
        </p:nvSpPr>
        <p:spPr>
          <a:xfrm>
            <a:off x="978408" y="3383280"/>
            <a:ext cx="2743200" cy="45720"/>
          </a:xfrm>
          <a:prstGeom prst="rect">
            <a:avLst/>
          </a:prstGeom>
          <a:solidFill>
            <a:srgbClr val="A81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200" b="0" i="0">
                <a:solidFill>
                  <a:srgbClr val="A89D82"/>
                </a:solidFill>
                <a:latin typeface="Segoe UI"/>
              </a:rPr>
              <a:t>Des 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0" i="1">
                <a:solidFill>
                  <a:srgbClr val="CB2E62"/>
                </a:solidFill>
                <a:latin typeface="Segoe UI"/>
              </a:rPr>
              <a:t>Harmonie  ·  Maël Flament  ·  « De la discorde naît l'Harmonie. 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146</cp:revision>
  <dcterms:created xsi:type="dcterms:W3CDTF">2013-01-27T09:14:16Z</dcterms:created>
  <dcterms:modified xsi:type="dcterms:W3CDTF">2026-07-07T13:10:42Z</dcterms:modified>
  <cp:category/>
</cp:coreProperties>
</file>